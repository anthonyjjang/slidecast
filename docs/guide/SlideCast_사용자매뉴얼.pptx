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키메시지: 표지
안녕하세요. 슬라이드캐스트 사용자 매뉴얼입니다. 이 매뉴얼은 프로그램 설치부터 발표자료 작성, 업로드, 결과물 수령, 문제 해결까지 사용자가 알아야 할 전 과정을 순서대로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키메시지: 목차
매뉴얼은 여덟 부분으로 구성됩니다. 소개, 설치와 실행, 발표자료 준비, 업로드와 설정, 진행 상황 확인, 결과물 받기, 문제 해결, 그리고 부록 순서입니다.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키메시지: 소개
슬라이드캐스트는 파워포인트 파일의 슬라이드 노트를 발표 대본으로 읽어 인공지능 음성을 만들고, 슬라이드 이미지와 합쳐서 나레이션 영상을 자동으로 만들어 줍니다. 사용자는 대본만 적으면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키메시지: 설치
설치는 최초 한 번만 하면 됩니다. 맥 환경에서 홈브루로 에프에프엠펙, 레디스, 리브레오피스를 설치하고, 파이썬 가상환경을 만든 뒤 패키지를 설치합니다. 음성 합성은 인터넷 연결이 필요하다는 점을 기억해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키메시지: 실행
사용할 때마다 터미널 세 개를 띄웁니다. 첫 번째는 레디스 서버, 두 번째는 셀러리 워커, 세 번째는 유비콘 웹서버입니다. 그다음 브라우저에서 로컬호스트 팔천 번 포트로 접속합니다. 워커를 띄우지 않으면 진행률이 영 퍼센트에서 멈추니 주의하세요.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키메시지: 노트 규칙
가장 중요한 규칙입니다. 슬라이드 노트의 첫 줄은 나레이션에서 제외됩니다. 첫 줄은 키메시지 자리로 쓰고, 실제 대본은 두 번째 줄부터 적어야 합니다. 한 줄만 적으면 그 슬라이드는 소리 없이 지나갑니다.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키메시지: 제약사항
그 밖에 지켜야 할 제약입니다. 숨김 슬라이드는 자동으로 제외되고, 파일은 백 메가바이트, 슬라이드는 백 장까지 지원합니다. 애니메이션은 반영되지 않으며, 십육 대 구 비율로 작성해야 여백이 생기지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키메시지: 대본 작성 팁
자연스럽게 읽히는 대본을 쓰는 요령입니다. 문장은 짧게 끊고, 숫자와 단위는 읽는 대로 풀어 쓰고, 영문 약어는 발음을 확인하세요. 주소와 기호는 그대로 소리로 읽히니 대본에서는 빼는 것이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키메시지: 업로드 화면
업로드 화면은 아주 단순합니다. 파일을 끌어다 놓는 영역과, 목소리 선택, 화면 전환 여백 두 가지 설정뿐입니다. 파일을 놓는 즉시 업로드가 시작되므로 설정은 파일을 놓기 전에 먼저 고르세요.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키메시지: 설정 옵션
목소리는 여섯 종을 지원하며, 웹 화면에서는 한국어와 영어 네 종을 고를 수 있습니다. 화면 전환 여백은 슬라이드가 바뀐 뒤 나레이션이 시작되기까지의 시간으로, 기본값은 일 점 오 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키메시지: 진행 상황
업로드 후 화면에 진행률이 표시됩니다. 십 퍼센트는 노트 추출, 삼십 퍼센트는 이미지 변환, 삼십에서 팔십 퍼센트는 슬라이드별 음성과 클립 생성, 팔십오는 자막, 구십은 병합 단계입니다. 진행률이 멈춘 지점을 보면 어느 단계에서 문제가 생겼는지 알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키메시지: 결과물 받기
작업이 끝나면 다운로드 버튼으로 영상을 받습니다. 자막 파일은 화면에서 받을 수 없고, 서버의 작업 폴더에서 직접 복사합니다. 작업 폴더에는 중간 산출물도 함께 남으니 필요한 파일을 옮긴 뒤 정리해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키메시지: 산출물 규격
영상은 풀에이치디 해상도, 초당 삼십 프레임, 에이치이륙사 비디오와 에이에이씨 오디오로 만들어집니다. 자막은 슬라이드마다 한 블록씩 들어가며, 타임코드는 실제 음성 길이를 누적해 계산하므로 영상과 정확히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키메시지: 유튜브 업로드
유튜브에 올릴 때는 먼저 영상을 업로드하고, 세부정보를 입력한 뒤, 자막 메뉴에서 타이밍 포함 옵션으로 에스알티 파일을 추가합니다. 자막 언어는 대본 언어와 같게 골라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키메시지: 오류 메시지
화면에 표시되는 오류 메시지별 원인과 조치입니다. 대부분은 파일 형식, 용량, 설정값 문제로 사용자가 바로 고칠 수 있습니다. 자세한 원인은 워커 터미널의 로그에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키메시지: 문제 해결
자주 나오는 증상입니다. 특정 슬라이드가 소리 없이 지나가면 노트가 한 줄뿐인 경우가 대부분이고, 진행률이 영 퍼센트에서 멈추면 워커가 실행되지 않은 것입니다. 삼십 퍼센트에서 오래 멈추면 키노트가 대화상자를 띄우고 기다리는 중일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키메시지: API 사용
웹 화면 없이도 에이피아이로 같은 기능을 쓸 수 있습니다. 업로드로 작업 아이디를 받고, 상태를 조회하고, 완료되면 영상을 내려받는 세 단계입니다. 화면에 없는 일본어와 중국어 목소리도 여기서 지정할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키메시지: 마무리
업로드 전에 이 체크리스트를 한 번 훑어보세요. 노트가 두 줄 이상인지, 문장이 짧은지, 안 쓰는 슬라이드를 숨겼는지, 비율과 용량이 맞는지 확인하면 됩니다. 노트 두 번째 줄부터가 대본이고, 나머지는 전부 자동입니다.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5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 · USER MANUAL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매뉴얼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9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발표자료(PPTX) 한 개로 AI 나레이션 영상과 자막을 만드는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9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설치 · 작성 · 업로드 · 결과 수령 · 문제 해결 전 과정 안내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8D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버전 1.0 (MVP)  ·  2026년 9월  ·  로컬 실행 환경(macOS) 기준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863840" y="18288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2057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.pptx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0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슬라이드 노트 = 대본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921240" y="2240280"/>
            <a:ext cx="640080" cy="548640"/>
          </a:xfrm>
          <a:prstGeom prst="rightArrow">
            <a:avLst/>
          </a:prstGeom>
          <a:solidFill>
            <a:srgbClr val="E8503F"/>
          </a:solidFill>
          <a:ln w="12700">
            <a:solidFill>
              <a:srgbClr val="E850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150876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2B2866"/>
          </a:solidFill>
          <a:ln w="12700">
            <a:solidFill>
              <a:srgbClr val="2B28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0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MP4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9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1920×1080 영상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698480" y="26060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2B2866"/>
          </a:solidFill>
          <a:ln w="12700">
            <a:solidFill>
              <a:srgbClr val="2B28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0" y="2651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SRT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9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YouTube 자막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3931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8D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노트 → 음성 → 영상  자동 변환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매뉴얼의 구성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 사용자 매뉴얼 · v1.0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/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 소개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9385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무엇을 입력하고 무엇이 나오는가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651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설치와 실행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0358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최초 1회 설치, 매번 실행하는 터미널 3개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발표자료 준비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1330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노트 작성 규칙과 제약사항, 대본 작성 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846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업로드와 설정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2303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업로드 화면, 목소리와 전환 여백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16002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진행 상황 확인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19385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진행률 단계별 의미와 소요 시간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26974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2651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결과물 받기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30358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MP4 다운로드, SRT 위치, 산출물 규격, YouTube 업로드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37947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해결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41330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오류 메시지별 원인과 조치, 자주 묻는 증상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4892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4846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부록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52303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API로 사용하기, 업로드 전 체크리스트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5806440"/>
            <a:ext cx="11094415" cy="502920"/>
          </a:xfrm>
          <a:prstGeom prst="roundRect">
            <a:avLst>
              <a:gd name="adj" fmla="val 18182"/>
            </a:avLst>
          </a:prstGeom>
          <a:solidFill>
            <a:srgbClr val="DFE3F7"/>
          </a:solidFill>
          <a:ln w="12700">
            <a:solidFill>
              <a:srgbClr val="DFE3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3232" y="5893308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13232" y="58933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188720" y="5806440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기준: MVP 버전(2026-09), macOS에서 로컬 서버를 직접 실행하는 환경. 웹 화면의 제품명은 코드명인 'SlideNarrator'로 표시됩니다.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· 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SlideCast는 무엇을 하나요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 사용자 매뉴얼 · v1.0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/ 18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PowerPoint 파일의 슬라이드 노트를 발표 대본으로 읽어 AI 음성을 만들고, 슬라이드 이미지와 합쳐 나레이션 영상을 자동으로 만들어 줍니다. 사용자가 직접 하는 일은 대본을 적는 것뿐이며 나머지는 서버가 처리합니다.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103120" cy="2103120"/>
          </a:xfrm>
          <a:prstGeom prst="roundRect">
            <a:avLst>
              <a:gd name="adj" fmla="val 4348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E8503F"/>
          </a:solidFill>
          <a:ln w="12700">
            <a:solidFill>
              <a:srgbClr val="E850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대본 작성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7490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슬라이드의 노트에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 대본을 입력합니다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79192" y="3520440"/>
            <a:ext cx="182880" cy="274320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2606040"/>
            <a:ext cx="2103120" cy="2103120"/>
          </a:xfrm>
          <a:prstGeom prst="roundRect">
            <a:avLst>
              <a:gd name="adj" fmla="val 4348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278892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632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업로드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37490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웹 화면에 파일을 끌어다 놓고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목소리와 여백을 고릅니다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10912" y="3520440"/>
            <a:ext cx="182880" cy="274320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2606040"/>
            <a:ext cx="2103120" cy="2103120"/>
          </a:xfrm>
          <a:prstGeom prst="roundRect">
            <a:avLst>
              <a:gd name="adj" fmla="val 4348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0" y="278892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949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 수령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7490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MP4 영상을 내려받고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SRT 자막을 함께 씁니다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85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1단계만 사람이 하고, 2단계 이후는 전부 자동입니다.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72400" y="1417320"/>
            <a:ext cx="3867912" cy="4480560"/>
          </a:xfrm>
          <a:prstGeom prst="roundRect">
            <a:avLst>
              <a:gd name="adj" fmla="val 2364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PPTX 파일 1개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23774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슬라이드 노트에 대본 포함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100MB · 100장 이내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16:9 비율 권장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3520440"/>
            <a:ext cx="3319272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4672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3977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MP4 영상 + SRT 자막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046720" y="4389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1920×1080 · 30fps · H.264 / AAC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슬라이드마다 음성 길이만큼 재생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자막 타임코드는 영상과 정확히 일치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·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설치 — 최초 1회만 하면 됩니다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 사용자 매뉴얼 · v1.0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 /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4937760" cy="4754880"/>
          </a:xfrm>
          <a:prstGeom prst="roundRect">
            <a:avLst>
              <a:gd name="adj" fmla="val 1923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시스템 요구사항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167128"/>
            <a:ext cx="292608" cy="2926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67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130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macOS + Keynote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5059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슬라이드를 원본 폰트 그대로 이미지로 변환합니다. Keynote가 없으면 LibreOffice로 자동 대체됩니다.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127248"/>
            <a:ext cx="292608" cy="2926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090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Python 3.11 이상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41071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서버와 워커가 Python으로 동작합니다.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087368"/>
            <a:ext cx="292608" cy="2926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050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ffmpeg · Redis · LibreOffice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3708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 합성, 작업 큐, 변환 폴백에 각각 필요합니다.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5047488"/>
            <a:ext cx="292608" cy="2926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047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0109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인터넷 연결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33095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음성 합성(edge-tts)이 Microsoft 서버를 사용합니다. 오프라인에서는 음성이 생성되지 않습니다.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1417320"/>
            <a:ext cx="5745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터미널에서 순서대로 실행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897880" y="1828800"/>
            <a:ext cx="5745175" cy="2880360"/>
          </a:xfrm>
          <a:prstGeom prst="roundRect">
            <a:avLst>
              <a:gd name="adj" fmla="val 190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62472" y="1938528"/>
            <a:ext cx="5415991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외부 프로그램 설치 (Homebrew)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ffmpeg redis libreoffice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프로젝트 폴더로 이동 후 가상환경 생성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~/SlideCast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venv .venv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.venv/bin/activate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Python 패키지 설치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4892040"/>
            <a:ext cx="5745175" cy="548640"/>
          </a:xfrm>
          <a:prstGeom prst="roundRect">
            <a:avLst>
              <a:gd name="adj" fmla="val 16667"/>
            </a:avLst>
          </a:prstGeom>
          <a:solidFill>
            <a:srgbClr val="DFE3F7"/>
          </a:solidFill>
          <a:ln w="12700">
            <a:solidFill>
              <a:srgbClr val="DFE3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62472" y="5001768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62472" y="5001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4892040"/>
            <a:ext cx="4922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Docker를 쓰는 경우 Redis는 brew 대신  docker compose up -d redis  로 띄울 수 있습니다.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897880" y="5577840"/>
            <a:ext cx="5745175" cy="54864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62472" y="5687568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62472" y="5687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537960" y="5577840"/>
            <a:ext cx="4922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설치가 끝나면 이후로는 '실행' 단계(다음 장)만 반복하면 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· RUN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실행 — 사용할 때마다 터미널 3개를 띄웁니다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 사용자 매뉴얼 · v1.0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 /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45738" cy="3246120"/>
          </a:xfrm>
          <a:prstGeom prst="roundRect">
            <a:avLst>
              <a:gd name="adj" fmla="val 281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18488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18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18488"/>
            <a:ext cx="26313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터미널 1 · 메시지 브로커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148840"/>
            <a:ext cx="3143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작업 큐 저장소입니다.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가장 먼저 실행합니다.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9808" y="2971800"/>
            <a:ext cx="3143402" cy="1463040"/>
          </a:xfrm>
          <a:prstGeom prst="roundRect">
            <a:avLst>
              <a:gd name="adj" fmla="val 37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081528"/>
            <a:ext cx="281421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redis-server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2978" y="1417320"/>
            <a:ext cx="3545738" cy="3246120"/>
          </a:xfrm>
          <a:prstGeom prst="roundRect">
            <a:avLst>
              <a:gd name="adj" fmla="val 281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4146" y="1618488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4146" y="1618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36210" y="1618488"/>
            <a:ext cx="26313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터미널 2 · 백그라운드 워커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24146" y="2148840"/>
            <a:ext cx="3143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 변환을 실제로 수행합니다.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가상환경 활성화가 필요합니다.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24146" y="2971800"/>
            <a:ext cx="3143402" cy="1463040"/>
          </a:xfrm>
          <a:prstGeom prst="roundRect">
            <a:avLst>
              <a:gd name="adj" fmla="val 37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88738" y="3081528"/>
            <a:ext cx="281421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.venv/bin/activate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celery -A src.worker.celery_app \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worker --loglevel=info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97317" y="1417320"/>
            <a:ext cx="3545738" cy="3246120"/>
          </a:xfrm>
          <a:prstGeom prst="roundRect">
            <a:avLst>
              <a:gd name="adj" fmla="val 281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8485" y="1618488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98485" y="1618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810549" y="1618488"/>
            <a:ext cx="26313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터미널 3 · 웹 서버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98485" y="2148840"/>
            <a:ext cx="3143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브라우저가 접속하는 화면입니다.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가상환경 활성화가 필요합니다.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98485" y="2971800"/>
            <a:ext cx="3143402" cy="1463040"/>
          </a:xfrm>
          <a:prstGeom prst="roundRect">
            <a:avLst>
              <a:gd name="adj" fmla="val 37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63077" y="3081528"/>
            <a:ext cx="281421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.venv/bin/activate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src.main:app --reload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B4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접속 주소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257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http://localhost:8000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760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C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서버 상태 확인:  http://localhost:8000/health  →  {"status": "ok"}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4846320"/>
            <a:ext cx="5379415" cy="1417320"/>
          </a:xfrm>
          <a:prstGeom prst="roundRect">
            <a:avLst>
              <a:gd name="adj" fmla="val 645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28232" y="5390388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28232" y="53903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4846320"/>
            <a:ext cx="455645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워커(터미널 2)를 띄우지 않으면 업로드는 되지만 진행률이 0%에서 멈춥니다. 종료할 때는 각 터미널에서 Ctrl+C를 누릅니다.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· AUTHORING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발표자료 준비 ① 노트의 첫 줄은 읽지 않습니다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 사용자 매뉴얼 · v1.0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 / 18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SlideCast는 각 슬라이드 노트의 첫 줄을 제목(키메시지)으로 보고 나레이션에서 제외합니다. 실제로 읽힐 대본은 반드시 두 번째 줄부터 적으세요.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364328" cy="3017520"/>
          </a:xfrm>
          <a:prstGeom prst="roundRect">
            <a:avLst>
              <a:gd name="adj" fmla="val 303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860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✗  이렇게 쓰면 무음으로 지나갑니다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490712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834640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[슬라이드 노트]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154680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오늘의 핵심은 자동화입니다.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69080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노트가 한 줄뿐이면 그 한 줄이 '첫 줄'로 간주되어 통째로 제외됩니다. 이 슬라이드는 전환 여백 시간만큼만 소리 없이 표시됩니다.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8728" y="2103120"/>
            <a:ext cx="5364328" cy="3017520"/>
          </a:xfrm>
          <a:prstGeom prst="roundRect">
            <a:avLst>
              <a:gd name="adj" fmla="val 303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07328" y="22860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  이렇게 써야 정상입니다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07328" y="2743200"/>
            <a:ext cx="490712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90208" y="2834640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[슬라이드 노트]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690208" y="3108960"/>
            <a:ext cx="454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trike="sngStrike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핵심: 자동화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← 1줄: 제외됨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90208" y="3474720"/>
            <a:ext cx="4541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오늘의 핵심은 자동화입니다.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단계로 나누어 설명하겠습니다.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07328" y="443484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1줄 = 키메시지(제외)  ·  2줄부터 = 실제 나레이션. 2줄 이후의 문단은 모두 이어서 한 번에 읽힙니다.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DFE3F7"/>
          </a:solidFill>
          <a:ln w="12700">
            <a:solidFill>
              <a:srgbClr val="DFE3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5550408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5550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39496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노트를 확인하려면 PowerPoint 하단의 '노트' 버튼, Keynote는 보기 → 발표자 노트 보기를 누르세요. 노트가 없는 슬라이드는 무음 장면으로 처리됩니다.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· AUTHORING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발표자료 준비 ② 지켜야 할 제약사항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 사용자 매뉴얼 · v1.0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 /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45738" cy="2011680"/>
          </a:xfrm>
          <a:prstGeom prst="roundRect">
            <a:avLst>
              <a:gd name="adj" fmla="val 454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618488"/>
            <a:ext cx="2585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숨김 슬라이드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240280"/>
            <a:ext cx="31434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숨긴 슬라이드는 영상과 대본에서 함께 제외됩니다. 안 쓰는 장은 삭제 대신 '슬라이드 숨기기'를 쓰면 원본을 보존할 수 있습니다.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2978" y="1417320"/>
            <a:ext cx="3545738" cy="2011680"/>
          </a:xfrm>
          <a:prstGeom prst="roundRect">
            <a:avLst>
              <a:gd name="adj" fmla="val 454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4146" y="1618488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4146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100218" y="1618488"/>
            <a:ext cx="2585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용량 · 장수 제한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24146" y="2240280"/>
            <a:ext cx="31434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 100MB, 슬라이드 100장까지 처리합니다. 초과하면 업로드 단계에서 거부되거나 작업이 실패합니다.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7317" y="1417320"/>
            <a:ext cx="3545738" cy="2011680"/>
          </a:xfrm>
          <a:prstGeom prst="roundRect">
            <a:avLst>
              <a:gd name="adj" fmla="val 454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8485" y="1618488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98485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74557" y="1618488"/>
            <a:ext cx="2585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애니메이션 미반영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298485" y="2240280"/>
            <a:ext cx="31434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전환과 개체 애니메이션은 무시되고 각 슬라이드의 최종 상태만 캡처됩니다. 단계별로 보여 주려면 슬라이드를 나누세요.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3545738" cy="2011680"/>
          </a:xfrm>
          <a:prstGeom prst="roundRect">
            <a:avLst>
              <a:gd name="adj" fmla="val 454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3858768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16:9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3858768"/>
            <a:ext cx="2585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16:9 비율 권장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4480560"/>
            <a:ext cx="31434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영상은 1920×1080으로 출력됩니다. 4:3 등 다른 비율은 좌우에 여백(레터박스)이 생깁니다.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22978" y="3657600"/>
            <a:ext cx="3545738" cy="2011680"/>
          </a:xfrm>
          <a:prstGeom prst="roundRect">
            <a:avLst>
              <a:gd name="adj" fmla="val 454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4146" y="3858768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24146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00218" y="3858768"/>
            <a:ext cx="2585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폰트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4524146" y="4480560"/>
            <a:ext cx="31434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Mac에서는 Keynote가 원본 폰트를 보존합니다. Linux 서버에 배포할 때는 한글 폰트를 따로 설치해야 글자가 깨지지 않습니다.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97317" y="3657600"/>
            <a:ext cx="3545738" cy="2011680"/>
          </a:xfrm>
          <a:prstGeom prst="roundRect">
            <a:avLst>
              <a:gd name="adj" fmla="val 454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98485" y="3858768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98485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IMG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874557" y="3858768"/>
            <a:ext cx="2585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 화질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8298485" y="4480560"/>
            <a:ext cx="31434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슬라이드에 넣은 저해상도 이미지는 영상에서도 그대로 뭉개집니다. 가로 1920px 이상 이미지를 권장합니다.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 제약을 어기면 오류 없이 결과물이 어색해지는 경우(레터박스, 뭉개진 이미지)가 있으니 업로드 전에 확인하세요.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· AUTHORING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발표자료 준비 ③ 자연스럽게 읽히는 대본 쓰기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 사용자 매뉴얼 · v1.0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 /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02336" cy="402336"/>
          </a:xfrm>
          <a:prstGeom prst="ellipse">
            <a:avLst/>
          </a:prstGeom>
          <a:solidFill>
            <a:srgbClr val="E8503F"/>
          </a:solidFill>
          <a:ln w="12700">
            <a:solidFill>
              <a:srgbClr val="E850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41732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문장을 짧게 끊기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7647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TTS는 마침표와 쉼표에서 호흡을 나눕니다. 한 문장은 두 줄 이내, 슬라이드당 2~4문장 단위가 듣기 좋습니다.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35915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숫자와 단위는 읽는 대로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70662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'2026년 3분기'처럼 읽기가 애매한 표현은 '이천이십육년 삼분기'로 풀어 쓰면 발음이 정확해집니다.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30098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영문 약어는 발음 확인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64845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'API', 'PPTX' 같은 약어는 엔진이 낱자로 읽습니다. 의도한 발음이 아니면 '에이피아이'처럼 한글로 적으세요.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88536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288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242816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URL · 기호 제거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459028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주소, 괄호, 화살표(→), 별표는 그대로 소리로 읽힙니다. 대본에서는 빼고 화면에만 남기세요.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230368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230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18464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대본 언어와 목소리 맞추기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55321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한국어 대본에는 한국어 목소리를, 영어 대본에는 영어 목소리를 고르세요. 섞이면 발음이 부자연스럽습니다.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35240" y="1417320"/>
            <a:ext cx="4007815" cy="4572000"/>
          </a:xfrm>
          <a:prstGeom prst="roundRect">
            <a:avLst>
              <a:gd name="adj" fmla="val 228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09560" y="1600200"/>
            <a:ext cx="3459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예시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909560" y="1965960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고치기 전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09560" y="2240280"/>
            <a:ext cx="3459175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46720" y="2331720"/>
            <a:ext cx="3184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Q3 매출 분석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 Q3 매출은 YoY +18% (자세한 내용은 https://example.com 참고) → 4Q 전망 긍정적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909560" y="3657600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고친 후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909560" y="3931920"/>
            <a:ext cx="3459175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46720" y="4023360"/>
            <a:ext cx="31848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키메시지: 삼분기 매출 분석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이천이십육년 삼분기 매출은 전년 같은 기간보다 십팔 퍼센트 늘었습니다. 자세한 수치는 화면의 링크를 참고해 주세요. 사분기 전망도 긍정적입니다.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 · UPLOAD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업로드 화면 — 파일을 놓고 두 가지만 고릅니다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 사용자 매뉴얼 · v1.0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 /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035040" cy="466344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SlideNarrator ✨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488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PPTX 파일 하나로 AI 음성 나레이션 영상을 자동 생성합니다.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260604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475569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1005840" y="2743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⬆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246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PPTX 파일을 드래그하여 놓거나 클릭하여 업로드하세요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슬라이드 노트가 발표 대본으로 자동 변환됩니다.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572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목소리 선택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4846320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4846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한국어 - 여성 (SunHi)   ▾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4572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전환 여백 (초)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03320" y="4846320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0" y="4846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06440" y="2468880"/>
            <a:ext cx="384048" cy="384048"/>
          </a:xfrm>
          <a:prstGeom prst="ellipse">
            <a:avLst/>
          </a:prstGeom>
          <a:solidFill>
            <a:srgbClr val="E8503F"/>
          </a:solidFill>
          <a:ln w="12700">
            <a:solidFill>
              <a:srgbClr val="E850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064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663440"/>
            <a:ext cx="384048" cy="384048"/>
          </a:xfrm>
          <a:prstGeom prst="ellipse">
            <a:avLst/>
          </a:prstGeom>
          <a:solidFill>
            <a:srgbClr val="E8503F"/>
          </a:solidFill>
          <a:ln w="12700">
            <a:solidFill>
              <a:srgbClr val="E85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29000" y="4663440"/>
            <a:ext cx="384048" cy="384048"/>
          </a:xfrm>
          <a:prstGeom prst="ellipse">
            <a:avLst/>
          </a:prstGeom>
          <a:solidFill>
            <a:srgbClr val="E8503F"/>
          </a:solidFill>
          <a:ln w="12700">
            <a:solidFill>
              <a:srgbClr val="E850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949440" y="1435608"/>
            <a:ext cx="384048" cy="384048"/>
          </a:xfrm>
          <a:prstGeom prst="ellipse">
            <a:avLst/>
          </a:prstGeom>
          <a:solidFill>
            <a:srgbClr val="E8503F"/>
          </a:solidFill>
          <a:ln w="12700">
            <a:solidFill>
              <a:srgbClr val="E850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1417320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업로드 영역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1801368"/>
            <a:ext cx="4144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PPTX 파일을 끌어다 놓거나 클릭해 파일을 고릅니다. 파일을 놓는 즉시 업로드가 시작되므로 목소리와 여백은 파일을 놓기 전에 먼저 선택하세요.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949440" y="2852928"/>
            <a:ext cx="384048" cy="384048"/>
          </a:xfrm>
          <a:prstGeom prst="ellipse">
            <a:avLst/>
          </a:prstGeom>
          <a:solidFill>
            <a:srgbClr val="E8503F"/>
          </a:solidFill>
          <a:ln w="12700">
            <a:solidFill>
              <a:srgbClr val="E850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4944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2834640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목소리 선택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3218688"/>
            <a:ext cx="4144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나레이션 음성입니다. 한국어 남·여, 영어 남·여 4종을 화면에서 고를 수 있습니다. 전체 목록은 다음 장을 참고하세요.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949440" y="4270248"/>
            <a:ext cx="384048" cy="384048"/>
          </a:xfrm>
          <a:prstGeom prst="ellipse">
            <a:avLst/>
          </a:prstGeom>
          <a:solidFill>
            <a:srgbClr val="E8503F"/>
          </a:solidFill>
          <a:ln w="12700">
            <a:solidFill>
              <a:srgbClr val="E850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4944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498080" y="4251960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전환 여백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498080" y="4636008"/>
            <a:ext cx="4144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슬라이드가 바뀐 뒤 나레이션이 시작될 때까지의 정적 시간(초)입니다. 기본값 1.5초, 0~10초 사이로 지정합니다.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49440" y="5669280"/>
            <a:ext cx="4693615" cy="54864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14032" y="5779008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14032" y="5779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589520" y="5669280"/>
            <a:ext cx="3870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파일을 놓으면 설정 영역이 사라지고 진행률 화면으로 바뀝니다. 설정을 바꾸려면 새로고침 후 다시 올리세요.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 · OPTIONS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 옵션 — 목소리와 화면 전환 여백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 사용자 매뉴얼 · v1.0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 / 18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지원 목소리 (Microsoft edge-tts)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858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731520"/>
                <a:gridCol w="1234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키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언어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성별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음성 이름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선택 방법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ko_female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한국어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여성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SunHi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웹 화면 (기본값)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ko_male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한국어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남성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Hyunsu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웹 화면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en_female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영어(미국)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여성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Jenny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웹 화면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en_male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영어(미국)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남성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Guy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웹 화면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ja_male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일본어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남성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Keita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API 호출만 (부록 참고)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zh_male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중국어(간체)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남성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Yunxi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API 호출만 (부록 참고)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6634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말하기 속도는 현재 고정(기본 속도)입니다. 언어별 영상이 필요하면 노트를 해당 언어로 바꿔 다시 업로드하세요.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63840" y="1371600"/>
            <a:ext cx="3779215" cy="4663440"/>
          </a:xfrm>
          <a:prstGeom prst="roundRect">
            <a:avLst>
              <a:gd name="adj" fmla="val 242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38160" y="155448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전환 여백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1965960"/>
            <a:ext cx="3230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1.5초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278892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기본값 · 허용 범위 0 ~ 10초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38160" y="3291840"/>
            <a:ext cx="710727" cy="384048"/>
          </a:xfrm>
          <a:prstGeom prst="rect">
            <a:avLst/>
          </a:prstGeom>
          <a:solidFill>
            <a:srgbClr val="DFE3F7"/>
          </a:solidFill>
          <a:ln w="12700">
            <a:solidFill>
              <a:srgbClr val="DFE3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38160" y="3291840"/>
            <a:ext cx="7107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여백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848887" y="3291840"/>
            <a:ext cx="2519849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848887" y="3291840"/>
            <a:ext cx="25198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나레이션 (음성 길이)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◀ 슬라이드 시작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9539935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슬라이드 끝 ▶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8138160" y="4160520"/>
            <a:ext cx="32305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슬라이드가 바뀐 뒤 나레이션이 시작되기까지 화면만 보여 주는 시간입니다.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슬라이드 길이 = 여백 + 음성 길이. 대본이 없는 슬라이드는 여백만큼만 표시됩니다.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자막(SRT) 타임코드에도 같은 값이 반영됩니다.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 · PROGRESS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진행 상황 확인 — 진행률이 알려 주는 것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 사용자 매뉴얼 · v1.0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 / 18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2237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651760"/>
                <a:gridCol w="3566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진행률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화면 메시지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서버가 하는 일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10%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노트 추출 중...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숨김 슬라이드를 제외하고 노트에서 대본을 뽑습니다.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30%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슬라이드 이미지 변환 중...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Keynote(또는 LibreOffice)로 PDF를 만든 뒤 슬라이드별 PNG로 변환합니다.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30 → 80%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N번째 슬라이드 영상 생성 중...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슬라이드마다 음성을 합성하고 이미지와 합쳐 클립을 만듭니다. 가장 오래 걸리는 구간입니다.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85%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YouTube 업로드용 SRT 자막 생성 중...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음성 길이를 누적해 자막 타임코드를 계산합니다.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90%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전체 영상 병합 중...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클립을 하나의 MP4로 이어 붙입니다.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100%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🎉 영상 생성이 완료되었습니다!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다운로드 버튼이 나타납니다.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92440" y="1371600"/>
            <a:ext cx="3550615" cy="1920240"/>
          </a:xfrm>
          <a:prstGeom prst="roundRect">
            <a:avLst>
              <a:gd name="adj" fmla="val 476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93608" y="1572768"/>
            <a:ext cx="31482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소요 시간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93608" y="1938528"/>
            <a:ext cx="314827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음성 합성이 슬라이드마다 순서대로 진행되므로 대본 길이와 장수에 비례해 늘어납니다. 참고로 14장·나레이션 6분 36초짜리 가이드 영상이 로컬 Mac에서 수 분 안에 완성됩니다.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92440" y="3474720"/>
            <a:ext cx="3550615" cy="1280160"/>
          </a:xfrm>
          <a:prstGeom prst="roundRect">
            <a:avLst>
              <a:gd name="adj" fmla="val 7143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93608" y="3675888"/>
            <a:ext cx="31482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갱신 주기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293608" y="4041648"/>
            <a:ext cx="31482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진행률은 2초마다 서버에 확인해 갱신됩니다. 잠시 같은 숫자에 머무는 것은 정상입니다.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92440" y="4937760"/>
            <a:ext cx="3550615" cy="1097280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57032" y="5321808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57032" y="5321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4937760"/>
            <a:ext cx="2727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작업 중 브라우저 탭을 닫거나 새로고침하면 결과 화면으로 돌아올 수 없습니다. 이 경우 결과물은 서버 작업 폴더에서 직접 가져옵니다(다음 장).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0749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진행률이 멈춘 지점이 곧 문제가 생긴 단계입니다. 0%는 워커 미실행, 30%는 이미지 변환(Keynote), 90%는 병합 단계를 의심하세요.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 · RESULT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결과물 받기 — 영상은 버튼으로, 자막은 작업 폴더에서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 사용자 매뉴얼 · v1.0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 /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4754880" cy="237744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🎉 영상 생성이 완료되었습니다!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45920" y="260604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4592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 다운로드 (MP4)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86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완료 화면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4407408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4407408"/>
            <a:ext cx="3849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MP4 영상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910328"/>
            <a:ext cx="4352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다운로드 버튼을 누르면 브라우저 다운로드 폴더에 저장됩니다.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파일명:  slide_video_{작업ID 앞 8자리}.mp4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0" y="1417320"/>
            <a:ext cx="5973775" cy="4617720"/>
          </a:xfrm>
          <a:prstGeom prst="roundRect">
            <a:avLst>
              <a:gd name="adj" fmla="val 198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1645920"/>
            <a:ext cx="384048" cy="384048"/>
          </a:xfrm>
          <a:prstGeom prst="ellipse">
            <a:avLst/>
          </a:prstGeom>
          <a:solidFill>
            <a:srgbClr val="E8503F"/>
          </a:solidFill>
          <a:ln w="12700">
            <a:solidFill>
              <a:srgbClr val="E850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≡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645920"/>
            <a:ext cx="50593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SRT 자막과 나머지 산출물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2148840"/>
            <a:ext cx="5516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화면에는 영상 다운로드 버튼만 있습니다. 자막 파일은 서버의 작업 폴더에서 직접 복사합니다. 작업 폴더는 작업 ID(UUID)마다 하나씩 만들어집니다.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97880" y="2971800"/>
            <a:ext cx="5516575" cy="2331720"/>
          </a:xfrm>
          <a:prstGeom prst="roundRect">
            <a:avLst>
              <a:gd name="adj" fmla="val 235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62472" y="3081528"/>
            <a:ext cx="5187391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가장 최근 작업 폴더 열기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$(ls -td /tmp/slidenarrator_uploads/*/ | head -1)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폴더 안 파일 구성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final_{작업ID}.mp4        최종 영상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subtitles_{작업ID}.srt    YouTube용 자막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slide_001.png ...        슬라이드 이미지 (중간 산출물)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audio_001.mp3 ...        슬라이드별 음성 (중간 산출물)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clip_001.mp4 ...         슬라이드별 클립 (중간 산출물)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897880" y="5394960"/>
            <a:ext cx="5516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작업 폴더는 자동으로 지워지지 않습니다. 중간 산출물이 쌓이면 디스크를 차지하니 필요한 파일을 옮긴 뒤 폴더를 삭제하세요.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 · OUTPUT SPEC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산출물 규격 — MP4와 SRT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 사용자 매뉴얼 · v1.0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 / 18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final_{작업ID}.mp4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항목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값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해상도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1920 × 1080 (Full HD, 16:9)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프레임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30 fps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비디오 코덱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H.264 (libx264), CRF 18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오디오 코덱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AAC 192 kbps · 48 kHz 스테레오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슬라이드 길이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전환 여백 + 음성 길이 (무음 슬라이드는 여백만)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전체 길이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모든 슬라이드 길이의 합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754880"/>
            <a:ext cx="5486400" cy="54864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4864608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4864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47548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휴대폰·PC·YouTube 어디서나 재생되는 표준 규격입니다. 별도 변환 없이 바로 올릴 수 있습니다.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1371600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subtitles_{작업ID}.srt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92240" y="1783080"/>
            <a:ext cx="5150815" cy="2148840"/>
          </a:xfrm>
          <a:prstGeom prst="roundRect">
            <a:avLst>
              <a:gd name="adj" fmla="val 255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56832" y="1892808"/>
            <a:ext cx="4821631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00:00:01,500 --&gt; 00:00:16,548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안녕하세요. 슬라이드캐스트 사용자 매뉴얼입니다.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00:00:18,048 --&gt; 00:00:29,310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매뉴얼은 여덟 부분으로 구성됩니다.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4114800"/>
            <a:ext cx="51508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슬라이드마다 자막 1개. 대본 전체가 한 블록으로 들어갑니다.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시작 시각 = 이전 슬라이드까지의 누적 길이 + 전환 여백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대본이 없는 슬라이드는 자막 번호를 건너뜁니다.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UTF-8 인코딩. 메모장·VS Code에서 열어 오타를 고칠 수 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 · YOUTUBE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YouTube에 올리기 — 영상과 자막을 함께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 사용자 매뉴얼 · v1.0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 / 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02154" cy="2240280"/>
          </a:xfrm>
          <a:prstGeom prst="roundRect">
            <a:avLst>
              <a:gd name="adj" fmla="val 408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64208"/>
            <a:ext cx="457200" cy="457200"/>
          </a:xfrm>
          <a:prstGeom prst="ellipse">
            <a:avLst/>
          </a:prstGeom>
          <a:solidFill>
            <a:srgbClr val="E8503F"/>
          </a:solidFill>
          <a:ln w="12700">
            <a:solidFill>
              <a:srgbClr val="E850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664208"/>
            <a:ext cx="1642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 업로드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331720"/>
            <a:ext cx="2199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YouTube Studio → 만들기 → 동영상 업로드에서 내려받은 MP4를 선택합니다.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78226" y="2651760"/>
            <a:ext cx="173736" cy="274320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9394" y="1463040"/>
            <a:ext cx="2602154" cy="2240280"/>
          </a:xfrm>
          <a:prstGeom prst="roundRect">
            <a:avLst>
              <a:gd name="adj" fmla="val 408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80562" y="1664208"/>
            <a:ext cx="457200" cy="457200"/>
          </a:xfrm>
          <a:prstGeom prst="ellipse">
            <a:avLst/>
          </a:prstGeom>
          <a:solidFill>
            <a:srgbClr val="E8503F"/>
          </a:solidFill>
          <a:ln w="12700">
            <a:solidFill>
              <a:srgbClr val="E850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8056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56634" y="1664208"/>
            <a:ext cx="1642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세부정보 입력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580562" y="2331720"/>
            <a:ext cx="2199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제목·설명·썸네일을 입력합니다. 설명란에 슬라이드별 시작 시각을 적으면 챕터가 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08980" y="2651760"/>
            <a:ext cx="173736" cy="274320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0148" y="1463040"/>
            <a:ext cx="2602154" cy="2240280"/>
          </a:xfrm>
          <a:prstGeom prst="roundRect">
            <a:avLst>
              <a:gd name="adj" fmla="val 408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1316" y="1664208"/>
            <a:ext cx="457200" cy="457200"/>
          </a:xfrm>
          <a:prstGeom prst="ellipse">
            <a:avLst/>
          </a:prstGeom>
          <a:solidFill>
            <a:srgbClr val="E8503F"/>
          </a:solidFill>
          <a:ln w="12700">
            <a:solidFill>
              <a:srgbClr val="E850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1316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87388" y="1664208"/>
            <a:ext cx="1642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자막 추가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11316" y="2331720"/>
            <a:ext cx="2199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왼쪽 메뉴 자막 → 언어 선택 → 파일 업로드 → '타이밍 포함'을 고르고 SRT 파일을 올립니다.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39733" y="2651760"/>
            <a:ext cx="173736" cy="274320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40901" y="1463040"/>
            <a:ext cx="2602154" cy="2240280"/>
          </a:xfrm>
          <a:prstGeom prst="roundRect">
            <a:avLst>
              <a:gd name="adj" fmla="val 408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42069" y="1664208"/>
            <a:ext cx="457200" cy="457200"/>
          </a:xfrm>
          <a:prstGeom prst="ellipse">
            <a:avLst/>
          </a:prstGeom>
          <a:solidFill>
            <a:srgbClr val="E8503F"/>
          </a:solidFill>
          <a:ln w="12700">
            <a:solidFill>
              <a:srgbClr val="E850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42069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818141" y="1664208"/>
            <a:ext cx="1642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공개 설정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9242069" y="2331720"/>
            <a:ext cx="2199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공개 범위와 예약 시간을 정하고 게시합니다. 자막은 시청자가 CC 버튼으로 켤 수 있습니다.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023360"/>
            <a:ext cx="5486400" cy="1737360"/>
          </a:xfrm>
          <a:prstGeom prst="roundRect">
            <a:avLst>
              <a:gd name="adj" fmla="val 5263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" y="4224528"/>
            <a:ext cx="5084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자막 언어는 대본 언어와 같게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749808" y="4590288"/>
            <a:ext cx="50840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한국어 대본이면 '한국어', 영어 대본이면 'English'를 고르세요. 다른 언어 자막이 필요하면 SRT 파일의 텍스트만 번역해 같은 방식으로 추가하면 됩니다.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4023360"/>
            <a:ext cx="5379415" cy="1737360"/>
          </a:xfrm>
          <a:prstGeom prst="roundRect">
            <a:avLst>
              <a:gd name="adj" fmla="val 5263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64808" y="4224528"/>
            <a:ext cx="4977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챕터 만들기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6464808" y="4590288"/>
            <a:ext cx="497707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SRT의 시작 시각을 '0:00 소개, 1:32 설치' 형식으로 설명란에 적으면 YouTube가 챕터로 인식합니다. 첫 항목은 반드시 0:00이어야 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 · ERRORS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오류 메시지별 원인과 조치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 사용자 매뉴얼 · v1.0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 / 18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383280"/>
                <a:gridCol w="377647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화면에 표시되는 메시지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원인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조치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PPTX 파일만 업로드할 수 있습니다.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.pptx가 아닌 파일(.ppt, .key, .pdf 등)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PowerPoint 또는 Keynote에서 .pptx로 다시 저장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올바른 PPTX 파일이 아닙니다.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확장자만 .pptx로 바꾼 파일, 손상된 파일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원본 프로그램에서 다시 내보내기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파일 크기가 제한(100MB)을 초과했습니다.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고해상도 이미지·영상이 많이 포함됨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이미지 압축(파일 → 압축) 후 재저장, 영상 개체 제거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빈 파일입니다.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0바이트 파일이 업로드됨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파일을 다시 저장한 뒤 업로드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화면 전환 여백은 0~10초 사이여야 합니다.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여백에 음수 또는 10 초과 값을 입력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0~10 사이 값으로 수정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영상 생성에 실패했습니다: 변환할 슬라이드가 없습니다.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모든 슬라이드가 숨김이거나 슬라이드가 없음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최소 1장의 슬라이드를 표시 상태로 변경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영상 생성에 실패했습니다: 슬라이드가 너무 많습니다.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표시 슬라이드가 100장 초과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파일을 2개 이상으로 나눠 업로드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영상 생성에 실패했습니다: ... 개수가 일치하지 않습니다.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이미지 변환 결과가 대본 수와 다름 (변환기 문제)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Keynote 종료 후 재시도, 계속되면 관리자에게 문의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업로드 중 오류가 발생했습니다.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웹 서버(터미널 3)가 꺼져 있거나 네트워크 문제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터미널 3의 uvicorn 실행 여부 확인 후 재시도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실패 메시지는 진행률 화면 대신 알림창으로 표시되고, 업로드 화면으로 되돌아갑니다. 워커 터미널(터미널 2)의 로그에 더 자세한 원인이 남습니다.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 · 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이런 증상이 나오면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 사용자 매뉴얼 · v1.0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 / 18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1422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증상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가장 흔한 원인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조치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특정 슬라이드가 소리 없이 지나감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노트를 한 줄만 작성 (첫 줄은 제외됨)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노트를 두 줄 이상으로 수정 후 재업로드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진행률이 0%에서 멈춤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Celery 워커(터미널 2)가 실행되지 않음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워커를 실행하고 파일을 다시 업로드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진행률이 30%에서 오래 멈춤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Keynote가 대화상자(권한·복구 등)를 띄우고 대기 중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Keynote 창을 확인해 대화상자를 닫음. 반복되면 Keynote를 종료해 LibreOffice로 변환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영상 전체에 소리가 없음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인터넷 연결 끊김 (edge-tts는 온라인 서비스)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네트워크 확인 후 재업로드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한글이 네모(□)로 깨짐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Linux 서버에 한글 폰트 미설치 (Mac은 해당 없음)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서버에 나눔고딕 등 한글 폰트 설치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영상 좌우에 검은 여백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4:3 등 16:9가 아닌 슬라이드 비율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디자인 → 슬라이드 크기를 16:9로 변경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새로고침해서 결과 화면이 사라짐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브라우저가 작업 ID를 잃음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작업 폴더(/tmp/slidenarrator_uploads/최근 폴더)에서 직접 복사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'영상을 찾을 수 없거나 아직 완성되지 않았습니다'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완료 전에 다운로드 주소를 열었거나 폴더가 삭제됨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100% 완료 후 다시 시도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DFE3F7"/>
          </a:solidFill>
          <a:ln w="12700">
            <a:solidFill>
              <a:srgbClr val="DFE3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5733288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5733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5623560"/>
            <a:ext cx="10271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 조치로 해결되지 않으면 워커 터미널의 마지막 오류 줄과 사용한 PPTX 파일을 관리자에게 전달하세요.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 · APPENDIX 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API로 사용하기 — 자동화와 일본어·중국어 목소리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SlideCast 사용자 매뉴얼 · v1.0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 / 18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웹 화면 없이 터미널이나 스크립트에서 같은 기능을 쓸 수 있습니다. 화면에 없는 ja_male, zh_male 목소리도 여기서 지정합니다.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965960"/>
            <a:ext cx="3042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업로드 → 작업 ID 받기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3545738" cy="246888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21655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http://localhost:8000/api/upload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 "file=@deck.pptx"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 "voice_key=ja_male"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 "delay_sec=2"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{"job_id": "3f2a...-...",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"message": "파일 업로드 완료 및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 작업 큐에 등록되었습니다."}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22978" y="196596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2297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25898" y="1965960"/>
            <a:ext cx="3042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진행 상태 조회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22978" y="2514600"/>
            <a:ext cx="3545738" cy="246888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7570" y="2624328"/>
            <a:ext cx="321655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http://localhost:8000/api/jobs/{job_id}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{"status": "PROGRESS",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"progress": 45,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"message": "3번째 슬라이드 ..."}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status 값: PENDING → PROGRESS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→ SUCCESS 또는 FAILURE(error 포함)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97317" y="196596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97317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00237" y="1965960"/>
            <a:ext cx="3042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 내려받기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97317" y="2514600"/>
            <a:ext cx="3545738" cy="246888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61909" y="2624328"/>
            <a:ext cx="321655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-o result.mp4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http://localhost:8000/api/download/{job_id}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자막은 서버 파일 시스템에서 복사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/tmp/slidenarrator_uploads/{job_id}/\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subtitles_{job_id}.srt 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DFE3F7"/>
          </a:solidFill>
          <a:ln w="12700">
            <a:solidFill>
              <a:srgbClr val="DFE3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5367528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5367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21208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API 문서는 서버 실행 중 http://localhost:8000/docs 에서 볼 수 있습니다. 입력 규칙(voice_key 목록, delay_sec 0~10, 100MB)은 화면과 동일합니다.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 · APPENDIX 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업로드 전 체크리스트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2B2866"/>
          </a:solidFill>
          <a:ln w="12700">
            <a:solidFill>
              <a:srgbClr val="2B28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013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1645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슬라이드의 노트가 2줄 이상인가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C9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 줄은 제외되므로 대본은 2번째 줄부터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2B2866"/>
          </a:solidFill>
          <a:ln w="12700">
            <a:solidFill>
              <a:srgbClr val="2B28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443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2788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문장을 짧게 끊었는가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154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C9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슬라이드당 2~4문장, 마침표 기준으로 호흡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2B2866"/>
          </a:solidFill>
          <a:ln w="12700">
            <a:solidFill>
              <a:srgbClr val="2B28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0873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3931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숫자·약어·URL을 정리했는가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297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C9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읽히면 어색한 표현은 한글로 풀거나 삭제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2B2866"/>
          </a:solidFill>
          <a:ln w="12700">
            <a:solidFill>
              <a:srgbClr val="2B28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8013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95160" y="1645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 쓰는 슬라이드를 숨겼는가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C9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숨김 슬라이드는 영상과 대본에서 함께 제외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651760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2B2866"/>
          </a:solidFill>
          <a:ln w="12700">
            <a:solidFill>
              <a:srgbClr val="2B28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29443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95160" y="2788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16:9 비율 · 100MB · 100장 이내인가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154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C9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초과 시 업로드 거부 또는 레터박스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794760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2B2866"/>
          </a:solidFill>
          <a:ln w="12700">
            <a:solidFill>
              <a:srgbClr val="2B28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0873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95160" y="3931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목소리와 여백을 파일을 놓기 전에 골랐는가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4297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C9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파일을 놓는 즉시 업로드가 시작됨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1094415" cy="18288"/>
          </a:xfrm>
          <a:prstGeom prst="rect">
            <a:avLst/>
          </a:prstGeom>
          <a:solidFill>
            <a:srgbClr val="3B3880"/>
          </a:solidFill>
          <a:ln w="12700">
            <a:solidFill>
              <a:srgbClr val="3B38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줄 요약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86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노트 2번째 줄부터가 대본이고, 나머지는 전부 자동입니다.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8D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함께 보기:  README.md  ·  docs/guide/SlideCast_퀵가이드.pptx (14장 요약 가이드)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0545775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8D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18 / 18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SlideCast 사용자 매뉴얼</dc:title>
  <dc:subject>PptxGenJS Presentation</dc:subject>
  <dc:creator>PptxGenJS</dc:creator>
  <cp:lastModifiedBy>PptxGenJS</cp:lastModifiedBy>
  <cp:revision>1</cp:revision>
  <dcterms:created xsi:type="dcterms:W3CDTF">2026-09-07T13:42:45Z</dcterms:created>
  <dcterms:modified xsi:type="dcterms:W3CDTF">2026-09-07T13:42:45Z</dcterms:modified>
</cp:coreProperties>
</file>