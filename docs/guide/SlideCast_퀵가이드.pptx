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표지</a:t>
            </a:r>
          </a:p>
          <a:p>
            <a:r>
              <a:t>안녕하세요. 슬라이드캐스트 퀵 가이드입니다. 지금 보고 계신 이 영상은 이 가이드 파워포인트 파일 하나를 슬라이드캐스트에 넣어서 자동으로 만든 것입니다. 발표자료를 어떻게 작성해야 하는지, 영상은 어떤 과정으로 만들어지는지, 작업자가 무엇을 준비해야 하는지 차례대로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30초 요약</a:t>
            </a:r>
          </a:p>
          <a:p>
            <a:r>
              <a:t>전체 흐름은 세 단계로 아주 단순합니다. 첫째, 파워포인트의 슬라이드 노트에 발표 대본을 적습니다. 둘째, 웹 페이지에 파일을 끌어다 놓습니다. 셋째, 잠시 기다리면 음성이 입혀진 엠피포 영상과 유튜브용 자막 파일이 나옵니다. 작업자가 직접 손대야 하는 것은 사실상 첫 번째 단계, 대본 작성뿐입니다.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노트 규칙</a:t>
            </a:r>
          </a:p>
          <a:p>
            <a:r>
              <a:t>가장 중요한 규칙입니다. 슬라이드 노트의 첫 줄은 나레이션에서 제외됩니다. 첫 줄은 키 메시지나 제목을 적는 자리로 쓰고, 실제로 읽히길 원하는 대본은 두 번째 줄부터 적어야 합니다. 첫 줄만 적고 끝내면 그 슬라이드는 대본이 없는 것으로 처리되어 소리 없이 지나갑니다. 이 점을 꼭 기억해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작성 제약</a:t>
            </a:r>
          </a:p>
          <a:p>
            <a:r>
              <a:t>그 밖에 지켜야 할 제약들입니다. 숨김 처리한 슬라이드는 영상에서 자동으로 빠지고 대본도 함께 제외되므로, 안 쓰는 슬라이드는 지우지 말고 숨겨두면 됩니다. 파일 크기는 백 메가바이트, 슬라이드는 백 장까지 지원합니다. 애니메이션과 화면 전환 효과는 반영되지 않고 각 슬라이드의 최종 상태만 이미지로 캡처됩니다. 영상은 가로 십육 대 구 비율로 만들어지므로 원본도 같은 비율로 작성하는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작업자 체크리스트</a:t>
            </a:r>
          </a:p>
          <a:p>
            <a:r>
              <a:t>업로드 버튼을 누르기 전에 확인할 목록입니다. 모든 슬라이드의 노트가 두 줄 이상인지, 숫자나 영문 약어를 읽는 방식이 어색하지 않은지, 문장이 너무 길지 않은지 확인해 주세요. 티티에스는 마침표와 쉼표를 기준으로 호흡을 나누기 때문에, 한 문장을 지나치게 길게 쓰면 부자연스럽게 들립니다. 두 문장에서 네 문장 정도로 끊어 쓰는 것을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개발 아키텍처</a:t>
            </a:r>
          </a:p>
          <a:p>
            <a:r>
              <a:t>개발 구조를 보겠습니다. 사용자가 브라우저에서 파일을 올리면 패스트에이피아이 서버가 이를 받아 레디스 큐에 작업을 등록합니다. 실제 무거운 작업은 셀러리 워커가 별도 프로세스에서 처리합니다. 워커는 다섯 개의 코어 모듈을 순서대로 호출해서 최종 영상과 자막을 만듭니다. 서버와 워커를 분리했기 때문에 영상 변환이 오래 걸려도 웹 페이지는 멈추지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생성 프로세스</a:t>
            </a:r>
          </a:p>
          <a:p>
            <a:r>
              <a:t>영상이 만들어지는 과정은 여섯 단계입니다. 노트를 추출하고, 슬라이드를 이미지로 바꾸고, 대본을 음성으로 합성하고, 슬라이드마다 클립을 만들고, 자막을 계산하고, 마지막으로 전체를 하나로 병합합니다. 화면의 진행률 표시가 이 여섯 단계를 그대로 따라갑니다. 진행률이 어디서 멈췄는지 보면 어느 단계에서 문제가 생겼는지 바로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실행 방법</a:t>
            </a:r>
          </a:p>
          <a:p>
            <a:r>
              <a:t>로컬에서 실행하는 방법입니다. 먼저 에프에프엠펙과 레디스, 리브레오피스를 설치하고 파이썬 가상환경에 패키지를 깔아둡니다. 그다음 터미널 세 개를 띄워서 각각 레디스 서버, 셀러리 워커, 유비콘 웹서버를 실행합니다. 마지막으로 브라우저에서 로컬호스트 팔천 번 포트로 접속하면 업로드 화면이 나옵니다. 워커를 띄우지 않으면 업로드는 되지만 진행률이 영 퍼센트에서 멈추니 주의하세요.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설정 옵션</a:t>
            </a:r>
          </a:p>
          <a:p>
            <a:r>
              <a:t>업로드 화면에서 고를 수 있는 설정입니다. 목소리는 한국어 남녀와 영어 남녀를 포함해 여섯 가지를 지원합니다. 화면 전환 여백은 각 슬라이드가 바뀐 뒤 나레이션이 시작되기까지의 정적 시간으로, 영 초에서 십 초까지 지정할 수 있습니다. 기본값인 일 점 오 초는 대부분의 발표에서 자연스럽게 들립니다. 여백은 자막 타임코드에도 똑같이 반영됩니다.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산출물</a:t>
            </a:r>
          </a:p>
          <a:p>
            <a:r>
              <a:t>작업이 끝나면 두 개의 파일이 나옵니다. 하나는 풀에이치디 해상도의 엠피포 영상이고, 다른 하나는 유튜브에 그대로 올릴 수 있는 에스알티 자막입니다. 자막의 타임코드는 각 슬라이드의 실제 음성 길이를 누적해서 계산하기 때문에 영상과 정확히 맞습니다. 영상은 다운로드 버튼으로 받고, 자막 파일은 작업 폴더에서 함께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트러블슈팅</a:t>
            </a:r>
          </a:p>
          <a:p>
            <a:r>
              <a:t>자주 나오는 증상과 원인입니다. 특정 슬라이드가 소리 없이 지나간다면 노트를 한 줄만 적었을 가능성이 큽니다. 진행률이 영 퍼센트에서 멈춘다면 셀러리 워커가 실행되지 않은 것입니다. 한글이 깨져 보인다면 리눅스 서버에 한글 폰트가 없는 경우입니다. 대본과 화면이 어긋난다면 예전 버전을 쓰고 있는 것이니 최신 코드로 갱신해 주세요.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최근 안정화</a:t>
            </a:r>
          </a:p>
          <a:p>
            <a:r>
              <a:t>최근에 두 가지 치명적인 버그를 고쳤습니다. 첫째, 대본이 없는 슬라이드가 있으면 그 이후 나레이션이 통째로 앞당겨지는 문제가 있었습니다. 둘째, 숨김 슬라이드가 있으면 대본과 화면이 어긋나는 문제가 있었습니다. 두 버그 모두 에러 없이 조용히 잘못된 결과물을 만들어냈기 때문에 특히 위험했습니다. 지금은 모두 수정되어 이 영상처럼 정상적으로 동작합니다.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남은 로드맵</a:t>
            </a:r>
          </a:p>
          <a:p>
            <a:r>
              <a:t>앞으로 남은 작업입니다. 티티에스를 병렬로 처리해서 생성 속도를 높이는 작업과, 임시 파일을 자동으로 정리하는 작업이 다음 순서입니다. 그 뒤로는 회원과 결제, 클라우드 배포, 유튜브 자동 업로드가 이어집니다. 지금 단계에서도 로컬에서 영상을 만드는 데는 아무 문제가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키메시지: 마무리</a:t>
            </a:r>
          </a:p>
          <a:p>
            <a:r>
              <a:t>정리하겠습니다. 노트 두 번째 줄부터가 대본이고, 나머지는 전부 자동입니다. 지금 보신 이 영상은 이 가이드 파일 하나만으로 만들어졌습니다. 여러분의 발표자료도 같은 방식으로 만들어 보세요.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Rounded Rectangle 1"/>
          <p:cNvSpPr/>
          <p:nvPr/>
        </p:nvSpPr>
        <p:spPr>
          <a:xfrm>
            <a:off x="0" y="0"/>
            <a:ext cx="12191695" cy="6858000"/>
          </a:xfrm>
          <a:prstGeom prst="roundRect">
            <a:avLst>
              <a:gd name="adj" fmla="val 4000"/>
            </a:avLst>
          </a:prstGeom>
          <a:solidFill>
            <a:srgbClr val="1114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822960" y="1965960"/>
            <a:ext cx="54864" cy="2286000"/>
          </a:xfrm>
          <a:prstGeom prst="roundRect">
            <a:avLst>
              <a:gd name="adj" fmla="val 4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34440" y="1965960"/>
            <a:ext cx="9601200" cy="411480"/>
          </a:xfrm>
          <a:prstGeom prst="rect">
            <a:avLst/>
          </a:prstGeom>
          <a:noFill/>
        </p:spPr>
        <p:txBody>
          <a:bodyPr wrap="square" anchor="t" lIns="0" rIns="0" tIns="0" bIns="0">
            <a:spAutoFit/>
          </a:bodyPr>
          <a:lstStyle/>
          <a:p>
            <a:pPr algn="l">
              <a:spcAft>
                <a:spcPts val="0"/>
              </a:spcAft>
              <a:defRPr sz="1500" b="1" i="0">
                <a:solidFill>
                  <a:srgbClr val="7CA9F0"/>
                </a:solidFill>
              </a:defRPr>
            </a:pPr>
            <a:r>
              <a:t>SLIDECAST · QUICK GUIDE</a:t>
            </a:r>
          </a:p>
        </p:txBody>
      </p:sp>
      <p:sp>
        <p:nvSpPr>
          <p:cNvPr id="5" name="TextBox 4"/>
          <p:cNvSpPr txBox="1"/>
          <p:nvPr/>
        </p:nvSpPr>
        <p:spPr>
          <a:xfrm>
            <a:off x="1234440" y="2487168"/>
            <a:ext cx="10058400" cy="1188720"/>
          </a:xfrm>
          <a:prstGeom prst="rect">
            <a:avLst/>
          </a:prstGeom>
          <a:noFill/>
        </p:spPr>
        <p:txBody>
          <a:bodyPr wrap="square" anchor="t" lIns="0" rIns="0" tIns="0" bIns="0">
            <a:spAutoFit/>
          </a:bodyPr>
          <a:lstStyle/>
          <a:p>
            <a:pPr algn="l">
              <a:spcAft>
                <a:spcPts val="800"/>
              </a:spcAft>
              <a:defRPr sz="4600" b="1" i="0">
                <a:solidFill>
                  <a:srgbClr val="F2F5FA"/>
                </a:solidFill>
              </a:defRPr>
            </a:pPr>
            <a:r>
              <a:t>PPTX 한 장으로</a:t>
            </a:r>
          </a:p>
          <a:p>
            <a:pPr algn="l">
              <a:spcAft>
                <a:spcPts val="800"/>
              </a:spcAft>
              <a:defRPr sz="4600" b="1" i="0">
                <a:solidFill>
                  <a:srgbClr val="F2F5FA"/>
                </a:solidFill>
              </a:defRPr>
            </a:pPr>
            <a:r>
              <a:t>나레이션 영상 만들기</a:t>
            </a:r>
          </a:p>
        </p:txBody>
      </p:sp>
      <p:sp>
        <p:nvSpPr>
          <p:cNvPr id="6" name="TextBox 5"/>
          <p:cNvSpPr txBox="1"/>
          <p:nvPr/>
        </p:nvSpPr>
        <p:spPr>
          <a:xfrm>
            <a:off x="1234440" y="4315968"/>
            <a:ext cx="9601200" cy="457200"/>
          </a:xfrm>
          <a:prstGeom prst="rect">
            <a:avLst/>
          </a:prstGeom>
          <a:noFill/>
        </p:spPr>
        <p:txBody>
          <a:bodyPr wrap="square" anchor="t" lIns="0" rIns="0" tIns="0" bIns="0">
            <a:spAutoFit/>
          </a:bodyPr>
          <a:lstStyle/>
          <a:p>
            <a:pPr algn="l">
              <a:spcAft>
                <a:spcPts val="0"/>
              </a:spcAft>
              <a:defRPr sz="1600" b="0" i="0">
                <a:solidFill>
                  <a:srgbClr val="9AA6BD"/>
                </a:solidFill>
              </a:defRPr>
            </a:pPr>
            <a:r>
              <a:t>발표자료 작성 규칙 · 생성 프로세스 · 실행 방법 · 개발 아키텍처</a:t>
            </a:r>
          </a:p>
        </p:txBody>
      </p:sp>
      <p:sp>
        <p:nvSpPr>
          <p:cNvPr id="7" name="TextBox 6"/>
          <p:cNvSpPr txBox="1"/>
          <p:nvPr/>
        </p:nvSpPr>
        <p:spPr>
          <a:xfrm>
            <a:off x="1234440" y="5943600"/>
            <a:ext cx="9601200" cy="365760"/>
          </a:xfrm>
          <a:prstGeom prst="rect">
            <a:avLst/>
          </a:prstGeom>
          <a:noFill/>
        </p:spPr>
        <p:txBody>
          <a:bodyPr wrap="square" anchor="t" lIns="0" rIns="0" tIns="0" bIns="0">
            <a:spAutoFit/>
          </a:bodyPr>
          <a:lstStyle/>
          <a:p>
            <a:pPr algn="l">
              <a:spcAft>
                <a:spcPts val="0"/>
              </a:spcAft>
              <a:defRPr sz="1300" b="0" i="1">
                <a:solidFill>
                  <a:srgbClr val="5E6A82"/>
                </a:solidFill>
              </a:defRPr>
            </a:pPr>
            <a:r>
              <a:t>이 영상 자체가 이 파일로 생성되었습니다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OVERVIEW</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30초 요약 — 전체는 3단계입니다</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02</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331720"/>
            <a:ext cx="3291840" cy="228600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5568" y="2633472"/>
            <a:ext cx="566928" cy="566928"/>
          </a:xfrm>
          <a:prstGeom prst="ellipse">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743200"/>
            <a:ext cx="566928" cy="365760"/>
          </a:xfrm>
          <a:prstGeom prst="rect">
            <a:avLst/>
          </a:prstGeom>
          <a:noFill/>
        </p:spPr>
        <p:txBody>
          <a:bodyPr wrap="square" anchor="t" lIns="0" rIns="0" tIns="0" bIns="0">
            <a:spAutoFit/>
          </a:bodyPr>
          <a:lstStyle/>
          <a:p>
            <a:pPr algn="ctr">
              <a:spcAft>
                <a:spcPts val="0"/>
              </a:spcAft>
              <a:defRPr sz="2000" b="1" i="0">
                <a:solidFill>
                  <a:srgbClr val="11141E"/>
                </a:solidFill>
              </a:defRPr>
            </a:pPr>
            <a:r>
              <a:t>1</a:t>
            </a:r>
          </a:p>
        </p:txBody>
      </p:sp>
      <p:sp>
        <p:nvSpPr>
          <p:cNvPr id="10" name="TextBox 9"/>
          <p:cNvSpPr txBox="1"/>
          <p:nvPr/>
        </p:nvSpPr>
        <p:spPr>
          <a:xfrm>
            <a:off x="1115568" y="3401568"/>
            <a:ext cx="2743200" cy="365760"/>
          </a:xfrm>
          <a:prstGeom prst="rect">
            <a:avLst/>
          </a:prstGeom>
          <a:noFill/>
        </p:spPr>
        <p:txBody>
          <a:bodyPr wrap="square" anchor="t" lIns="0" rIns="0" tIns="0" bIns="0">
            <a:spAutoFit/>
          </a:bodyPr>
          <a:lstStyle/>
          <a:p>
            <a:pPr algn="l">
              <a:spcAft>
                <a:spcPts val="0"/>
              </a:spcAft>
              <a:defRPr sz="2000" b="1" i="0">
                <a:solidFill>
                  <a:srgbClr val="F2F5FA"/>
                </a:solidFill>
              </a:defRPr>
            </a:pPr>
            <a:r>
              <a:t>대본 작성</a:t>
            </a:r>
          </a:p>
        </p:txBody>
      </p:sp>
      <p:sp>
        <p:nvSpPr>
          <p:cNvPr id="11" name="TextBox 10"/>
          <p:cNvSpPr txBox="1"/>
          <p:nvPr/>
        </p:nvSpPr>
        <p:spPr>
          <a:xfrm>
            <a:off x="1115568" y="3822191"/>
            <a:ext cx="2743200" cy="822960"/>
          </a:xfrm>
          <a:prstGeom prst="rect">
            <a:avLst/>
          </a:prstGeom>
          <a:noFill/>
        </p:spPr>
        <p:txBody>
          <a:bodyPr wrap="square" anchor="t" lIns="0" rIns="0" tIns="0" bIns="0">
            <a:spAutoFit/>
          </a:bodyPr>
          <a:lstStyle/>
          <a:p>
            <a:pPr algn="l">
              <a:spcAft>
                <a:spcPts val="300"/>
              </a:spcAft>
              <a:defRPr sz="1300" b="0" i="0">
                <a:solidFill>
                  <a:srgbClr val="9AA6BD"/>
                </a:solidFill>
              </a:defRPr>
            </a:pPr>
            <a:r>
              <a:t>슬라이드 노트에</a:t>
            </a:r>
          </a:p>
          <a:p>
            <a:pPr algn="l">
              <a:spcAft>
                <a:spcPts val="300"/>
              </a:spcAft>
              <a:defRPr sz="1300" b="0" i="0">
                <a:solidFill>
                  <a:srgbClr val="9AA6BD"/>
                </a:solidFill>
              </a:defRPr>
            </a:pPr>
            <a:r>
              <a:t>발표 대본을 입력</a:t>
            </a:r>
          </a:p>
        </p:txBody>
      </p:sp>
      <p:sp>
        <p:nvSpPr>
          <p:cNvPr id="12" name="Right Arrow 11"/>
          <p:cNvSpPr/>
          <p:nvPr/>
        </p:nvSpPr>
        <p:spPr>
          <a:xfrm>
            <a:off x="4224528" y="3401568"/>
            <a:ext cx="310896"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2331720"/>
            <a:ext cx="3291840" cy="228600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773168" y="2633472"/>
            <a:ext cx="566928" cy="566928"/>
          </a:xfrm>
          <a:prstGeom prst="ellipse">
            <a:avLst/>
          </a:prstGeom>
          <a:solidFill>
            <a:srgbClr val="F2C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743200"/>
            <a:ext cx="566928" cy="365760"/>
          </a:xfrm>
          <a:prstGeom prst="rect">
            <a:avLst/>
          </a:prstGeom>
          <a:noFill/>
        </p:spPr>
        <p:txBody>
          <a:bodyPr wrap="square" anchor="t" lIns="0" rIns="0" tIns="0" bIns="0">
            <a:spAutoFit/>
          </a:bodyPr>
          <a:lstStyle/>
          <a:p>
            <a:pPr algn="ctr">
              <a:spcAft>
                <a:spcPts val="0"/>
              </a:spcAft>
              <a:defRPr sz="2000" b="1" i="0">
                <a:solidFill>
                  <a:srgbClr val="11141E"/>
                </a:solidFill>
              </a:defRPr>
            </a:pPr>
            <a:r>
              <a:t>2</a:t>
            </a:r>
          </a:p>
        </p:txBody>
      </p:sp>
      <p:sp>
        <p:nvSpPr>
          <p:cNvPr id="16" name="TextBox 15"/>
          <p:cNvSpPr txBox="1"/>
          <p:nvPr/>
        </p:nvSpPr>
        <p:spPr>
          <a:xfrm>
            <a:off x="4773168" y="3401568"/>
            <a:ext cx="2743200" cy="365760"/>
          </a:xfrm>
          <a:prstGeom prst="rect">
            <a:avLst/>
          </a:prstGeom>
          <a:noFill/>
        </p:spPr>
        <p:txBody>
          <a:bodyPr wrap="square" anchor="t" lIns="0" rIns="0" tIns="0" bIns="0">
            <a:spAutoFit/>
          </a:bodyPr>
          <a:lstStyle/>
          <a:p>
            <a:pPr algn="l">
              <a:spcAft>
                <a:spcPts val="0"/>
              </a:spcAft>
              <a:defRPr sz="2000" b="1" i="0">
                <a:solidFill>
                  <a:srgbClr val="F2F5FA"/>
                </a:solidFill>
              </a:defRPr>
            </a:pPr>
            <a:r>
              <a:t>업로드</a:t>
            </a:r>
          </a:p>
        </p:txBody>
      </p:sp>
      <p:sp>
        <p:nvSpPr>
          <p:cNvPr id="17" name="TextBox 16"/>
          <p:cNvSpPr txBox="1"/>
          <p:nvPr/>
        </p:nvSpPr>
        <p:spPr>
          <a:xfrm>
            <a:off x="4773168" y="3822191"/>
            <a:ext cx="2743200" cy="822960"/>
          </a:xfrm>
          <a:prstGeom prst="rect">
            <a:avLst/>
          </a:prstGeom>
          <a:noFill/>
        </p:spPr>
        <p:txBody>
          <a:bodyPr wrap="square" anchor="t" lIns="0" rIns="0" tIns="0" bIns="0">
            <a:spAutoFit/>
          </a:bodyPr>
          <a:lstStyle/>
          <a:p>
            <a:pPr algn="l">
              <a:spcAft>
                <a:spcPts val="300"/>
              </a:spcAft>
              <a:defRPr sz="1300" b="0" i="0">
                <a:solidFill>
                  <a:srgbClr val="9AA6BD"/>
                </a:solidFill>
              </a:defRPr>
            </a:pPr>
            <a:r>
              <a:t>웹 페이지에</a:t>
            </a:r>
          </a:p>
          <a:p>
            <a:pPr algn="l">
              <a:spcAft>
                <a:spcPts val="300"/>
              </a:spcAft>
              <a:defRPr sz="1300" b="0" i="0">
                <a:solidFill>
                  <a:srgbClr val="9AA6BD"/>
                </a:solidFill>
              </a:defRPr>
            </a:pPr>
            <a:r>
              <a:t>드래그 앤 드롭</a:t>
            </a:r>
          </a:p>
        </p:txBody>
      </p:sp>
      <p:sp>
        <p:nvSpPr>
          <p:cNvPr id="18" name="Right Arrow 17"/>
          <p:cNvSpPr/>
          <p:nvPr/>
        </p:nvSpPr>
        <p:spPr>
          <a:xfrm>
            <a:off x="7882128" y="3401568"/>
            <a:ext cx="310896"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38160" y="2331720"/>
            <a:ext cx="3291840" cy="228600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430768" y="2633472"/>
            <a:ext cx="566928" cy="566928"/>
          </a:xfrm>
          <a:prstGeom prst="ellipse">
            <a:avLst/>
          </a:prstGeom>
          <a:solidFill>
            <a:srgbClr val="66D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2743200"/>
            <a:ext cx="566928" cy="365760"/>
          </a:xfrm>
          <a:prstGeom prst="rect">
            <a:avLst/>
          </a:prstGeom>
          <a:noFill/>
        </p:spPr>
        <p:txBody>
          <a:bodyPr wrap="square" anchor="t" lIns="0" rIns="0" tIns="0" bIns="0">
            <a:spAutoFit/>
          </a:bodyPr>
          <a:lstStyle/>
          <a:p>
            <a:pPr algn="ctr">
              <a:spcAft>
                <a:spcPts val="0"/>
              </a:spcAft>
              <a:defRPr sz="2000" b="1" i="0">
                <a:solidFill>
                  <a:srgbClr val="11141E"/>
                </a:solidFill>
              </a:defRPr>
            </a:pPr>
            <a:r>
              <a:t>3</a:t>
            </a:r>
          </a:p>
        </p:txBody>
      </p:sp>
      <p:sp>
        <p:nvSpPr>
          <p:cNvPr id="22" name="TextBox 21"/>
          <p:cNvSpPr txBox="1"/>
          <p:nvPr/>
        </p:nvSpPr>
        <p:spPr>
          <a:xfrm>
            <a:off x="8430768" y="3401568"/>
            <a:ext cx="2743200" cy="365760"/>
          </a:xfrm>
          <a:prstGeom prst="rect">
            <a:avLst/>
          </a:prstGeom>
          <a:noFill/>
        </p:spPr>
        <p:txBody>
          <a:bodyPr wrap="square" anchor="t" lIns="0" rIns="0" tIns="0" bIns="0">
            <a:spAutoFit/>
          </a:bodyPr>
          <a:lstStyle/>
          <a:p>
            <a:pPr algn="l">
              <a:spcAft>
                <a:spcPts val="0"/>
              </a:spcAft>
              <a:defRPr sz="2000" b="1" i="0">
                <a:solidFill>
                  <a:srgbClr val="F2F5FA"/>
                </a:solidFill>
              </a:defRPr>
            </a:pPr>
            <a:r>
              <a:t>결과 수령</a:t>
            </a:r>
          </a:p>
        </p:txBody>
      </p:sp>
      <p:sp>
        <p:nvSpPr>
          <p:cNvPr id="23" name="TextBox 22"/>
          <p:cNvSpPr txBox="1"/>
          <p:nvPr/>
        </p:nvSpPr>
        <p:spPr>
          <a:xfrm>
            <a:off x="8430768" y="3822191"/>
            <a:ext cx="2743200" cy="822960"/>
          </a:xfrm>
          <a:prstGeom prst="rect">
            <a:avLst/>
          </a:prstGeom>
          <a:noFill/>
        </p:spPr>
        <p:txBody>
          <a:bodyPr wrap="square" anchor="t" lIns="0" rIns="0" tIns="0" bIns="0">
            <a:spAutoFit/>
          </a:bodyPr>
          <a:lstStyle/>
          <a:p>
            <a:pPr algn="l">
              <a:spcAft>
                <a:spcPts val="300"/>
              </a:spcAft>
              <a:defRPr sz="1300" b="0" i="0">
                <a:solidFill>
                  <a:srgbClr val="9AA6BD"/>
                </a:solidFill>
              </a:defRPr>
            </a:pPr>
            <a:r>
              <a:t>MP4 영상 +</a:t>
            </a:r>
          </a:p>
          <a:p>
            <a:pPr algn="l">
              <a:spcAft>
                <a:spcPts val="300"/>
              </a:spcAft>
              <a:defRPr sz="1300" b="0" i="0">
                <a:solidFill>
                  <a:srgbClr val="9AA6BD"/>
                </a:solidFill>
              </a:defRPr>
            </a:pPr>
            <a:r>
              <a:t>SRT 자막 다운로드</a:t>
            </a:r>
          </a:p>
        </p:txBody>
      </p:sp>
      <p:sp>
        <p:nvSpPr>
          <p:cNvPr id="24" name="Rounded Rectangle 23"/>
          <p:cNvSpPr/>
          <p:nvPr/>
        </p:nvSpPr>
        <p:spPr>
          <a:xfrm>
            <a:off x="822960" y="4892040"/>
            <a:ext cx="10543032" cy="86868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43000" y="5120640"/>
            <a:ext cx="10058400" cy="457200"/>
          </a:xfrm>
          <a:prstGeom prst="rect">
            <a:avLst/>
          </a:prstGeom>
          <a:noFill/>
        </p:spPr>
        <p:txBody>
          <a:bodyPr wrap="square" anchor="t" lIns="0" rIns="0" tIns="0" bIns="0">
            <a:spAutoFit/>
          </a:bodyPr>
          <a:lstStyle/>
          <a:p>
            <a:pPr algn="l">
              <a:spcAft>
                <a:spcPts val="0"/>
              </a:spcAft>
              <a:defRPr sz="1600" b="1" i="0">
                <a:solidFill>
                  <a:srgbClr val="F2F5FA"/>
                </a:solidFill>
              </a:defRPr>
            </a:pPr>
            <a:r>
              <a:t>작업자가 실제로 손대는 것은 1단계뿐 — 나머지는 전부 자동입니다.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AUTHORING · 1</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가장 중요한 규칙 — 노트 첫 줄은 읽지 않습니다</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03</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94560"/>
            <a:ext cx="5120640" cy="3200400"/>
          </a:xfrm>
          <a:prstGeom prst="roundRect">
            <a:avLst>
              <a:gd name="adj" fmla="val 4000"/>
            </a:avLst>
          </a:prstGeom>
          <a:solidFill>
            <a:srgbClr val="1B202E"/>
          </a:solidFill>
          <a:ln w="15875">
            <a:solidFill>
              <a:srgbClr val="F28B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2450592"/>
            <a:ext cx="4572000" cy="320040"/>
          </a:xfrm>
          <a:prstGeom prst="rect">
            <a:avLst/>
          </a:prstGeom>
          <a:noFill/>
        </p:spPr>
        <p:txBody>
          <a:bodyPr wrap="square" anchor="t" lIns="0" rIns="0" tIns="0" bIns="0">
            <a:spAutoFit/>
          </a:bodyPr>
          <a:lstStyle/>
          <a:p>
            <a:pPr algn="l">
              <a:spcAft>
                <a:spcPts val="0"/>
              </a:spcAft>
              <a:defRPr sz="1500" b="1" i="0">
                <a:solidFill>
                  <a:srgbClr val="F28B82"/>
                </a:solidFill>
              </a:defRPr>
            </a:pPr>
            <a:r>
              <a:t>✗  이렇게 쓰면 무음 처리</a:t>
            </a:r>
          </a:p>
        </p:txBody>
      </p:sp>
      <p:sp>
        <p:nvSpPr>
          <p:cNvPr id="9" name="Rounded Rectangle 8"/>
          <p:cNvSpPr/>
          <p:nvPr/>
        </p:nvSpPr>
        <p:spPr>
          <a:xfrm>
            <a:off x="1143000" y="2926080"/>
            <a:ext cx="4480560" cy="95097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80744" y="3108960"/>
            <a:ext cx="4023360" cy="585216"/>
          </a:xfrm>
          <a:prstGeom prst="rect">
            <a:avLst/>
          </a:prstGeom>
          <a:noFill/>
        </p:spPr>
        <p:txBody>
          <a:bodyPr wrap="square">
            <a:spAutoFit/>
          </a:bodyPr>
          <a:lstStyle/>
          <a:p>
            <a:pPr>
              <a:spcAft>
                <a:spcPts val="300"/>
              </a:spcAft>
              <a:defRPr sz="1200">
                <a:solidFill>
                  <a:srgbClr val="9AA6BD"/>
                </a:solidFill>
                <a:latin typeface="Menlo"/>
              </a:defRPr>
            </a:pPr>
            <a:r>
              <a:t>[슬라이드 노트]</a:t>
            </a:r>
          </a:p>
          <a:p>
            <a:pPr>
              <a:spcAft>
                <a:spcPts val="300"/>
              </a:spcAft>
              <a:defRPr sz="1200">
                <a:solidFill>
                  <a:srgbClr val="9AA6BD"/>
                </a:solidFill>
                <a:latin typeface="Menlo"/>
              </a:defRPr>
            </a:pPr>
            <a:r>
              <a:t>오늘의 핵심은 자동화입니다</a:t>
            </a:r>
          </a:p>
        </p:txBody>
      </p:sp>
      <p:sp>
        <p:nvSpPr>
          <p:cNvPr id="11" name="TextBox 10"/>
          <p:cNvSpPr txBox="1"/>
          <p:nvPr/>
        </p:nvSpPr>
        <p:spPr>
          <a:xfrm>
            <a:off x="1143000" y="4114800"/>
            <a:ext cx="4572000" cy="1097280"/>
          </a:xfrm>
          <a:prstGeom prst="rect">
            <a:avLst/>
          </a:prstGeom>
          <a:noFill/>
        </p:spPr>
        <p:txBody>
          <a:bodyPr wrap="square" anchor="t" lIns="0" rIns="0" tIns="0" bIns="0">
            <a:spAutoFit/>
          </a:bodyPr>
          <a:lstStyle/>
          <a:p>
            <a:pPr algn="l">
              <a:spcAft>
                <a:spcPts val="400"/>
              </a:spcAft>
              <a:defRPr sz="1300" b="0" i="0">
                <a:solidFill>
                  <a:srgbClr val="9AA6BD"/>
                </a:solidFill>
              </a:defRPr>
            </a:pPr>
            <a:r>
              <a:t>한 줄만 적으면 그 한 줄이</a:t>
            </a:r>
          </a:p>
          <a:p>
            <a:pPr algn="l">
              <a:spcAft>
                <a:spcPts val="400"/>
              </a:spcAft>
              <a:defRPr sz="1300" b="0" i="0">
                <a:solidFill>
                  <a:srgbClr val="9AA6BD"/>
                </a:solidFill>
              </a:defRPr>
            </a:pPr>
            <a:r>
              <a:t>'첫 줄'로 간주되어 통째로 제외됩니다.</a:t>
            </a:r>
          </a:p>
          <a:p>
            <a:pPr algn="l">
              <a:spcAft>
                <a:spcPts val="400"/>
              </a:spcAft>
              <a:defRPr sz="1300" b="0" i="0">
                <a:solidFill>
                  <a:srgbClr val="9AA6BD"/>
                </a:solidFill>
              </a:defRPr>
            </a:pPr>
            <a:r>
              <a:t>→ 나레이션 없음</a:t>
            </a:r>
          </a:p>
        </p:txBody>
      </p:sp>
      <p:sp>
        <p:nvSpPr>
          <p:cNvPr id="12" name="Rounded Rectangle 11"/>
          <p:cNvSpPr/>
          <p:nvPr/>
        </p:nvSpPr>
        <p:spPr>
          <a:xfrm>
            <a:off x="6245352" y="2194560"/>
            <a:ext cx="5120640" cy="3200400"/>
          </a:xfrm>
          <a:prstGeom prst="roundRect">
            <a:avLst>
              <a:gd name="adj" fmla="val 4000"/>
            </a:avLst>
          </a:prstGeom>
          <a:solidFill>
            <a:srgbClr val="1B202E"/>
          </a:solidFill>
          <a:ln w="15875">
            <a:solidFill>
              <a:srgbClr val="66D9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65392" y="2450592"/>
            <a:ext cx="4572000" cy="320040"/>
          </a:xfrm>
          <a:prstGeom prst="rect">
            <a:avLst/>
          </a:prstGeom>
          <a:noFill/>
        </p:spPr>
        <p:txBody>
          <a:bodyPr wrap="square" anchor="t" lIns="0" rIns="0" tIns="0" bIns="0">
            <a:spAutoFit/>
          </a:bodyPr>
          <a:lstStyle/>
          <a:p>
            <a:pPr algn="l">
              <a:spcAft>
                <a:spcPts val="0"/>
              </a:spcAft>
              <a:defRPr sz="1500" b="1" i="0">
                <a:solidFill>
                  <a:srgbClr val="66D9A0"/>
                </a:solidFill>
              </a:defRPr>
            </a:pPr>
            <a:r>
              <a:t>✓  이렇게 써야 정상</a:t>
            </a:r>
          </a:p>
        </p:txBody>
      </p:sp>
      <p:sp>
        <p:nvSpPr>
          <p:cNvPr id="14" name="Rounded Rectangle 13"/>
          <p:cNvSpPr/>
          <p:nvPr/>
        </p:nvSpPr>
        <p:spPr>
          <a:xfrm>
            <a:off x="6565392" y="2926080"/>
            <a:ext cx="4480560" cy="149961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03136" y="3108960"/>
            <a:ext cx="4023360" cy="1133855"/>
          </a:xfrm>
          <a:prstGeom prst="rect">
            <a:avLst/>
          </a:prstGeom>
          <a:noFill/>
        </p:spPr>
        <p:txBody>
          <a:bodyPr wrap="square">
            <a:spAutoFit/>
          </a:bodyPr>
          <a:lstStyle/>
          <a:p>
            <a:pPr>
              <a:spcAft>
                <a:spcPts val="300"/>
              </a:spcAft>
              <a:defRPr sz="1200">
                <a:solidFill>
                  <a:srgbClr val="9AA6BD"/>
                </a:solidFill>
                <a:latin typeface="Menlo"/>
              </a:defRPr>
            </a:pPr>
            <a:r>
              <a:t>[슬라이드 노트]</a:t>
            </a:r>
          </a:p>
          <a:p>
            <a:pPr>
              <a:spcAft>
                <a:spcPts val="300"/>
              </a:spcAft>
              <a:defRPr sz="1200">
                <a:solidFill>
                  <a:srgbClr val="9AA6BD"/>
                </a:solidFill>
                <a:latin typeface="Menlo"/>
              </a:defRPr>
            </a:pPr>
            <a:r>
              <a:t>핵심: 자동화          ← 제외됨</a:t>
            </a:r>
          </a:p>
          <a:p>
            <a:pPr>
              <a:spcAft>
                <a:spcPts val="300"/>
              </a:spcAft>
              <a:defRPr sz="1200">
                <a:solidFill>
                  <a:srgbClr val="9AA6BD"/>
                </a:solidFill>
                <a:latin typeface="Menlo"/>
              </a:defRPr>
            </a:pPr>
            <a:r>
              <a:t>오늘의 핵심은 자동화입니다.</a:t>
            </a:r>
          </a:p>
          <a:p>
            <a:pPr>
              <a:spcAft>
                <a:spcPts val="300"/>
              </a:spcAft>
              <a:defRPr sz="1200">
                <a:solidFill>
                  <a:srgbClr val="9AA6BD"/>
                </a:solidFill>
                <a:latin typeface="Menlo"/>
              </a:defRPr>
            </a:pPr>
            <a:r>
              <a:t>세 단계로 나누어 설명하겠습니다.</a:t>
            </a:r>
          </a:p>
        </p:txBody>
      </p:sp>
      <p:sp>
        <p:nvSpPr>
          <p:cNvPr id="16" name="TextBox 15"/>
          <p:cNvSpPr txBox="1"/>
          <p:nvPr/>
        </p:nvSpPr>
        <p:spPr>
          <a:xfrm>
            <a:off x="6565392" y="4617720"/>
            <a:ext cx="4572000" cy="731520"/>
          </a:xfrm>
          <a:prstGeom prst="rect">
            <a:avLst/>
          </a:prstGeom>
          <a:noFill/>
        </p:spPr>
        <p:txBody>
          <a:bodyPr wrap="square" anchor="t" lIns="0" rIns="0" tIns="0" bIns="0">
            <a:spAutoFit/>
          </a:bodyPr>
          <a:lstStyle/>
          <a:p>
            <a:pPr algn="l">
              <a:spcAft>
                <a:spcPts val="400"/>
              </a:spcAft>
              <a:defRPr sz="1300" b="0" i="0">
                <a:solidFill>
                  <a:srgbClr val="9AA6BD"/>
                </a:solidFill>
              </a:defRPr>
            </a:pPr>
            <a:r>
              <a:t>1줄 = 키메시지(제외)</a:t>
            </a:r>
          </a:p>
          <a:p>
            <a:pPr algn="l">
              <a:spcAft>
                <a:spcPts val="400"/>
              </a:spcAft>
              <a:defRPr sz="1300" b="0" i="0">
                <a:solidFill>
                  <a:srgbClr val="9AA6BD"/>
                </a:solidFill>
              </a:defRPr>
            </a:pPr>
            <a:r>
              <a:t>2줄부터 = 실제 나레이션</a:t>
            </a:r>
          </a:p>
        </p:txBody>
      </p:sp>
      <p:sp>
        <p:nvSpPr>
          <p:cNvPr id="17" name="TextBox 16"/>
          <p:cNvSpPr txBox="1"/>
          <p:nvPr/>
        </p:nvSpPr>
        <p:spPr>
          <a:xfrm>
            <a:off x="822960" y="5623560"/>
            <a:ext cx="10515600" cy="365760"/>
          </a:xfrm>
          <a:prstGeom prst="rect">
            <a:avLst/>
          </a:prstGeom>
          <a:noFill/>
        </p:spPr>
        <p:txBody>
          <a:bodyPr wrap="square" anchor="t" lIns="0" rIns="0" tIns="0" bIns="0">
            <a:spAutoFit/>
          </a:bodyPr>
          <a:lstStyle/>
          <a:p>
            <a:pPr algn="l">
              <a:spcAft>
                <a:spcPts val="0"/>
              </a:spcAft>
              <a:defRPr sz="1300" b="0" i="0">
                <a:solidFill>
                  <a:srgbClr val="9AA6BD"/>
                </a:solidFill>
              </a:defRPr>
            </a:pPr>
            <a:r>
              <a:t>※ 2줄 이후의 여러 문단은 모두 이어서 한 번에 읽힙니다.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AUTHORING · 2</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그 밖에 지켜야 할 제약</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04</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22960" y="2441448"/>
            <a:ext cx="45720" cy="1170432"/>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2144"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숨김 슬라이드</a:t>
            </a:r>
          </a:p>
        </p:txBody>
      </p:sp>
      <p:sp>
        <p:nvSpPr>
          <p:cNvPr id="10" name="TextBox 9"/>
          <p:cNvSpPr txBox="1"/>
          <p:nvPr/>
        </p:nvSpPr>
        <p:spPr>
          <a:xfrm>
            <a:off x="1152144"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숨긴 슬라이드는 영상에서 제외되고</a:t>
            </a:r>
          </a:p>
          <a:p>
            <a:pPr algn="l">
              <a:spcAft>
                <a:spcPts val="500"/>
              </a:spcAft>
              <a:defRPr sz="1150" b="0" i="0">
                <a:solidFill>
                  <a:srgbClr val="9AA6BD"/>
                </a:solidFill>
              </a:defRPr>
            </a:pPr>
            <a:r>
              <a:t>대본도 함께 빠집니다.</a:t>
            </a:r>
          </a:p>
          <a:p>
            <a:pPr algn="l">
              <a:spcAft>
                <a:spcPts val="500"/>
              </a:spcAft>
              <a:defRPr sz="1150" b="0" i="0">
                <a:solidFill>
                  <a:srgbClr val="9AA6BD"/>
                </a:solidFill>
              </a:defRPr>
            </a:pPr>
            <a:r>
              <a:t>안 쓰는 장은 삭제 대신 숨기기 권장</a:t>
            </a:r>
          </a:p>
        </p:txBody>
      </p:sp>
      <p:sp>
        <p:nvSpPr>
          <p:cNvPr id="11" name="Rounded Rectangle 10"/>
          <p:cNvSpPr/>
          <p:nvPr/>
        </p:nvSpPr>
        <p:spPr>
          <a:xfrm>
            <a:off x="4416552"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16552" y="2441448"/>
            <a:ext cx="45720" cy="1170432"/>
          </a:xfrm>
          <a:prstGeom prst="rect">
            <a:avLst/>
          </a:prstGeom>
          <a:solidFill>
            <a:srgbClr val="F2C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5736"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용량 · 장수 제한</a:t>
            </a:r>
          </a:p>
        </p:txBody>
      </p:sp>
      <p:sp>
        <p:nvSpPr>
          <p:cNvPr id="14" name="TextBox 13"/>
          <p:cNvSpPr txBox="1"/>
          <p:nvPr/>
        </p:nvSpPr>
        <p:spPr>
          <a:xfrm>
            <a:off x="4745736"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파일 100MB / 슬라이드 100장까지</a:t>
            </a:r>
          </a:p>
          <a:p>
            <a:pPr algn="l">
              <a:spcAft>
                <a:spcPts val="500"/>
              </a:spcAft>
              <a:defRPr sz="1150" b="0" i="0">
                <a:solidFill>
                  <a:srgbClr val="9AA6BD"/>
                </a:solidFill>
              </a:defRPr>
            </a:pPr>
            <a:r>
              <a:t>초과 시 업로드 단계에서 거부됩니다</a:t>
            </a:r>
          </a:p>
        </p:txBody>
      </p:sp>
      <p:sp>
        <p:nvSpPr>
          <p:cNvPr id="15" name="Rounded Rectangle 14"/>
          <p:cNvSpPr/>
          <p:nvPr/>
        </p:nvSpPr>
        <p:spPr>
          <a:xfrm>
            <a:off x="8010144"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10144" y="2441448"/>
            <a:ext cx="45720" cy="1170432"/>
          </a:xfrm>
          <a:prstGeom prst="rect">
            <a:avLst/>
          </a:prstGeom>
          <a:solidFill>
            <a:srgbClr val="F28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애니메이션 미반영</a:t>
            </a:r>
          </a:p>
        </p:txBody>
      </p:sp>
      <p:sp>
        <p:nvSpPr>
          <p:cNvPr id="18" name="TextBox 17"/>
          <p:cNvSpPr txBox="1"/>
          <p:nvPr/>
        </p:nvSpPr>
        <p:spPr>
          <a:xfrm>
            <a:off x="8339327"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화면 전환·애니메이션 효과는 무시되고</a:t>
            </a:r>
          </a:p>
          <a:p>
            <a:pPr algn="l">
              <a:spcAft>
                <a:spcPts val="500"/>
              </a:spcAft>
              <a:defRPr sz="1150" b="0" i="0">
                <a:solidFill>
                  <a:srgbClr val="9AA6BD"/>
                </a:solidFill>
              </a:defRPr>
            </a:pPr>
            <a:r>
              <a:t>각 장의 최종 상태만 캡처됩니다</a:t>
            </a:r>
          </a:p>
        </p:txBody>
      </p:sp>
      <p:sp>
        <p:nvSpPr>
          <p:cNvPr id="19" name="Rounded Rectangle 18"/>
          <p:cNvSpPr/>
          <p:nvPr/>
        </p:nvSpPr>
        <p:spPr>
          <a:xfrm>
            <a:off x="822960"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22960" y="4224528"/>
            <a:ext cx="45720" cy="1170432"/>
          </a:xfrm>
          <a:prstGeom prst="rect">
            <a:avLst/>
          </a:prstGeom>
          <a:solidFill>
            <a:srgbClr val="66D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16:9 권장</a:t>
            </a:r>
          </a:p>
        </p:txBody>
      </p:sp>
      <p:sp>
        <p:nvSpPr>
          <p:cNvPr id="22" name="TextBox 21"/>
          <p:cNvSpPr txBox="1"/>
          <p:nvPr/>
        </p:nvSpPr>
        <p:spPr>
          <a:xfrm>
            <a:off x="1152144"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영상은 1920×1080으로 출력됩니다.</a:t>
            </a:r>
          </a:p>
          <a:p>
            <a:pPr algn="l">
              <a:spcAft>
                <a:spcPts val="500"/>
              </a:spcAft>
              <a:defRPr sz="1150" b="0" i="0">
                <a:solidFill>
                  <a:srgbClr val="9AA6BD"/>
                </a:solidFill>
              </a:defRPr>
            </a:pPr>
            <a:r>
              <a:t>다른 비율은 여백(레터박스)이 생깁니다</a:t>
            </a:r>
          </a:p>
        </p:txBody>
      </p:sp>
      <p:sp>
        <p:nvSpPr>
          <p:cNvPr id="23" name="Rounded Rectangle 22"/>
          <p:cNvSpPr/>
          <p:nvPr/>
        </p:nvSpPr>
        <p:spPr>
          <a:xfrm>
            <a:off x="4416552"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416552" y="4224528"/>
            <a:ext cx="45720" cy="1170432"/>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45736"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폰트</a:t>
            </a:r>
          </a:p>
        </p:txBody>
      </p:sp>
      <p:sp>
        <p:nvSpPr>
          <p:cNvPr id="26" name="TextBox 25"/>
          <p:cNvSpPr txBox="1"/>
          <p:nvPr/>
        </p:nvSpPr>
        <p:spPr>
          <a:xfrm>
            <a:off x="4745736"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Mac은 Keynote로 원본 폰트를 보존합니다.</a:t>
            </a:r>
          </a:p>
          <a:p>
            <a:pPr algn="l">
              <a:spcAft>
                <a:spcPts val="500"/>
              </a:spcAft>
              <a:defRPr sz="1150" b="0" i="0">
                <a:solidFill>
                  <a:srgbClr val="9AA6BD"/>
                </a:solidFill>
              </a:defRPr>
            </a:pPr>
            <a:r>
              <a:t>Linux 배포 시 한글 폰트 설치 필요</a:t>
            </a:r>
          </a:p>
        </p:txBody>
      </p:sp>
      <p:sp>
        <p:nvSpPr>
          <p:cNvPr id="27" name="Rounded Rectangle 26"/>
          <p:cNvSpPr/>
          <p:nvPr/>
        </p:nvSpPr>
        <p:spPr>
          <a:xfrm>
            <a:off x="8010144"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10144" y="4224528"/>
            <a:ext cx="45720" cy="1170432"/>
          </a:xfrm>
          <a:prstGeom prst="rect">
            <a:avLst/>
          </a:prstGeom>
          <a:solidFill>
            <a:srgbClr val="9AA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이미지 화질</a:t>
            </a:r>
          </a:p>
        </p:txBody>
      </p:sp>
      <p:sp>
        <p:nvSpPr>
          <p:cNvPr id="30" name="TextBox 29"/>
          <p:cNvSpPr txBox="1"/>
          <p:nvPr/>
        </p:nvSpPr>
        <p:spPr>
          <a:xfrm>
            <a:off x="8339327"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PPT에 저해상도 이미지를 넣으면</a:t>
            </a:r>
          </a:p>
          <a:p>
            <a:pPr algn="l">
              <a:spcAft>
                <a:spcPts val="500"/>
              </a:spcAft>
              <a:defRPr sz="1150" b="0" i="0">
                <a:solidFill>
                  <a:srgbClr val="9AA6BD"/>
                </a:solidFill>
              </a:defRPr>
            </a:pPr>
            <a:r>
              <a:t>영상에서도 그대로 뭉개집니다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CHECKLIST</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업로드 전 작업자 확인 목록</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05</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94560"/>
            <a:ext cx="10543032" cy="54864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051560" y="2322576"/>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50008"/>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10" name="TextBox 9"/>
          <p:cNvSpPr txBox="1"/>
          <p:nvPr/>
        </p:nvSpPr>
        <p:spPr>
          <a:xfrm>
            <a:off x="1536192" y="2340864"/>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노트가 2줄 이상인가</a:t>
            </a:r>
          </a:p>
        </p:txBody>
      </p:sp>
      <p:sp>
        <p:nvSpPr>
          <p:cNvPr id="11" name="TextBox 10"/>
          <p:cNvSpPr txBox="1"/>
          <p:nvPr/>
        </p:nvSpPr>
        <p:spPr>
          <a:xfrm>
            <a:off x="5577840" y="2359152"/>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첫 줄은 제외되므로 최소 2줄 필요</a:t>
            </a:r>
          </a:p>
        </p:txBody>
      </p:sp>
      <p:sp>
        <p:nvSpPr>
          <p:cNvPr id="12" name="Rounded Rectangle 11"/>
          <p:cNvSpPr/>
          <p:nvPr/>
        </p:nvSpPr>
        <p:spPr>
          <a:xfrm>
            <a:off x="822960" y="2843784"/>
            <a:ext cx="10543032" cy="54864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051560" y="2971800"/>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99232"/>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15" name="TextBox 14"/>
          <p:cNvSpPr txBox="1"/>
          <p:nvPr/>
        </p:nvSpPr>
        <p:spPr>
          <a:xfrm>
            <a:off x="1536192" y="2990088"/>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문장을 짧게 끊었는가</a:t>
            </a:r>
          </a:p>
        </p:txBody>
      </p:sp>
      <p:sp>
        <p:nvSpPr>
          <p:cNvPr id="16" name="TextBox 15"/>
          <p:cNvSpPr txBox="1"/>
          <p:nvPr/>
        </p:nvSpPr>
        <p:spPr>
          <a:xfrm>
            <a:off x="5577840" y="3008376"/>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한 문장 2~4개 단위 권장. TTS는 마침표로 호흡을 나눔</a:t>
            </a:r>
          </a:p>
        </p:txBody>
      </p:sp>
      <p:sp>
        <p:nvSpPr>
          <p:cNvPr id="17" name="Rounded Rectangle 16"/>
          <p:cNvSpPr/>
          <p:nvPr/>
        </p:nvSpPr>
        <p:spPr>
          <a:xfrm>
            <a:off x="822960" y="3493008"/>
            <a:ext cx="10543032" cy="54864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051560" y="3621024"/>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48456"/>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20" name="TextBox 19"/>
          <p:cNvSpPr txBox="1"/>
          <p:nvPr/>
        </p:nvSpPr>
        <p:spPr>
          <a:xfrm>
            <a:off x="1536192" y="3639312"/>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숫자·약어 읽기가 자연스러운가</a:t>
            </a:r>
          </a:p>
        </p:txBody>
      </p:sp>
      <p:sp>
        <p:nvSpPr>
          <p:cNvPr id="21" name="TextBox 20"/>
          <p:cNvSpPr txBox="1"/>
          <p:nvPr/>
        </p:nvSpPr>
        <p:spPr>
          <a:xfrm>
            <a:off x="5577840" y="3657600"/>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'2026년' '3분기' 등은 한글로 풀어 쓰면 더 정확</a:t>
            </a:r>
          </a:p>
        </p:txBody>
      </p:sp>
      <p:sp>
        <p:nvSpPr>
          <p:cNvPr id="22" name="Rounded Rectangle 21"/>
          <p:cNvSpPr/>
          <p:nvPr/>
        </p:nvSpPr>
        <p:spPr>
          <a:xfrm>
            <a:off x="822960" y="4142231"/>
            <a:ext cx="10543032" cy="54864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1051560" y="4270247"/>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297679"/>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25" name="TextBox 24"/>
          <p:cNvSpPr txBox="1"/>
          <p:nvPr/>
        </p:nvSpPr>
        <p:spPr>
          <a:xfrm>
            <a:off x="1536192" y="4288536"/>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영문·특수문자를 정리했는가</a:t>
            </a:r>
          </a:p>
        </p:txBody>
      </p:sp>
      <p:sp>
        <p:nvSpPr>
          <p:cNvPr id="26" name="TextBox 25"/>
          <p:cNvSpPr txBox="1"/>
          <p:nvPr/>
        </p:nvSpPr>
        <p:spPr>
          <a:xfrm>
            <a:off x="5577840" y="4306823"/>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URL·기호는 소리로 읽히니 대본에서는 빼는 편이 낫다</a:t>
            </a:r>
          </a:p>
        </p:txBody>
      </p:sp>
      <p:sp>
        <p:nvSpPr>
          <p:cNvPr id="27" name="Rounded Rectangle 26"/>
          <p:cNvSpPr/>
          <p:nvPr/>
        </p:nvSpPr>
        <p:spPr>
          <a:xfrm>
            <a:off x="822960" y="4791456"/>
            <a:ext cx="10543032" cy="54864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051560" y="4919472"/>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946904"/>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30" name="TextBox 29"/>
          <p:cNvSpPr txBox="1"/>
          <p:nvPr/>
        </p:nvSpPr>
        <p:spPr>
          <a:xfrm>
            <a:off x="1536192" y="4937760"/>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불필요한 슬라이드를 숨겼는가</a:t>
            </a:r>
          </a:p>
        </p:txBody>
      </p:sp>
      <p:sp>
        <p:nvSpPr>
          <p:cNvPr id="31" name="TextBox 30"/>
          <p:cNvSpPr txBox="1"/>
          <p:nvPr/>
        </p:nvSpPr>
        <p:spPr>
          <a:xfrm>
            <a:off x="5577840" y="4956048"/>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숨김 처리하면 영상과 대본에서 함께 제외</a:t>
            </a:r>
          </a:p>
        </p:txBody>
      </p:sp>
      <p:sp>
        <p:nvSpPr>
          <p:cNvPr id="32" name="Rounded Rectangle 31"/>
          <p:cNvSpPr/>
          <p:nvPr/>
        </p:nvSpPr>
        <p:spPr>
          <a:xfrm>
            <a:off x="822960" y="5440679"/>
            <a:ext cx="10543032" cy="54864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051560" y="5568695"/>
            <a:ext cx="292608" cy="292608"/>
          </a:xfrm>
          <a:prstGeom prst="roundRect">
            <a:avLst>
              <a:gd name="adj" fmla="val 25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596127"/>
            <a:ext cx="292608" cy="274320"/>
          </a:xfrm>
          <a:prstGeom prst="rect">
            <a:avLst/>
          </a:prstGeom>
          <a:noFill/>
        </p:spPr>
        <p:txBody>
          <a:bodyPr wrap="square" anchor="t" lIns="0" rIns="0" tIns="0" bIns="0">
            <a:spAutoFit/>
          </a:bodyPr>
          <a:lstStyle/>
          <a:p>
            <a:pPr algn="ctr">
              <a:spcAft>
                <a:spcPts val="0"/>
              </a:spcAft>
              <a:defRPr sz="1300" b="1" i="0">
                <a:solidFill>
                  <a:srgbClr val="11141E"/>
                </a:solidFill>
              </a:defRPr>
            </a:pPr>
            <a:r>
              <a:t>✓</a:t>
            </a:r>
          </a:p>
        </p:txBody>
      </p:sp>
      <p:sp>
        <p:nvSpPr>
          <p:cNvPr id="35" name="TextBox 34"/>
          <p:cNvSpPr txBox="1"/>
          <p:nvPr/>
        </p:nvSpPr>
        <p:spPr>
          <a:xfrm>
            <a:off x="1536192" y="5586983"/>
            <a:ext cx="4023360" cy="320040"/>
          </a:xfrm>
          <a:prstGeom prst="rect">
            <a:avLst/>
          </a:prstGeom>
          <a:noFill/>
        </p:spPr>
        <p:txBody>
          <a:bodyPr wrap="square" anchor="t" lIns="0" rIns="0" tIns="0" bIns="0">
            <a:spAutoFit/>
          </a:bodyPr>
          <a:lstStyle/>
          <a:p>
            <a:pPr algn="l">
              <a:spcAft>
                <a:spcPts val="0"/>
              </a:spcAft>
              <a:defRPr sz="1400" b="1" i="0">
                <a:solidFill>
                  <a:srgbClr val="F2F5FA"/>
                </a:solidFill>
              </a:defRPr>
            </a:pPr>
            <a:r>
              <a:t>목소리와 여백을 정했는가</a:t>
            </a:r>
          </a:p>
        </p:txBody>
      </p:sp>
      <p:sp>
        <p:nvSpPr>
          <p:cNvPr id="36" name="TextBox 35"/>
          <p:cNvSpPr txBox="1"/>
          <p:nvPr/>
        </p:nvSpPr>
        <p:spPr>
          <a:xfrm>
            <a:off x="5577840" y="5605271"/>
            <a:ext cx="5577840" cy="320040"/>
          </a:xfrm>
          <a:prstGeom prst="rect">
            <a:avLst/>
          </a:prstGeom>
          <a:noFill/>
        </p:spPr>
        <p:txBody>
          <a:bodyPr wrap="square" anchor="t" lIns="0" rIns="0" tIns="0" bIns="0">
            <a:spAutoFit/>
          </a:bodyPr>
          <a:lstStyle/>
          <a:p>
            <a:pPr algn="l">
              <a:spcAft>
                <a:spcPts val="0"/>
              </a:spcAft>
              <a:defRPr sz="1200" b="0" i="0">
                <a:solidFill>
                  <a:srgbClr val="9AA6BD"/>
                </a:solidFill>
              </a:defRPr>
            </a:pPr>
            <a:r>
              <a:t>업로드 화면에서 성별·언어와 전환 여백을 선택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ARCHITECTURE</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개발 아키텍처 — API와 워커의 분리</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06</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48840"/>
            <a:ext cx="2423160" cy="91440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50976" y="2350008"/>
            <a:ext cx="216712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브라우저 UI</a:t>
            </a:r>
          </a:p>
        </p:txBody>
      </p:sp>
      <p:sp>
        <p:nvSpPr>
          <p:cNvPr id="9" name="TextBox 8"/>
          <p:cNvSpPr txBox="1"/>
          <p:nvPr/>
        </p:nvSpPr>
        <p:spPr>
          <a:xfrm>
            <a:off x="950976" y="2715768"/>
            <a:ext cx="216712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static/app.js</a:t>
            </a:r>
          </a:p>
        </p:txBody>
      </p:sp>
      <p:sp>
        <p:nvSpPr>
          <p:cNvPr id="10" name="Right Arrow 9"/>
          <p:cNvSpPr/>
          <p:nvPr/>
        </p:nvSpPr>
        <p:spPr>
          <a:xfrm>
            <a:off x="3310128" y="2532888"/>
            <a:ext cx="237744"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11879" y="2148840"/>
            <a:ext cx="2423160" cy="91440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39896" y="2350008"/>
            <a:ext cx="216712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FastAPI</a:t>
            </a:r>
          </a:p>
        </p:txBody>
      </p:sp>
      <p:sp>
        <p:nvSpPr>
          <p:cNvPr id="13" name="TextBox 12"/>
          <p:cNvSpPr txBox="1"/>
          <p:nvPr/>
        </p:nvSpPr>
        <p:spPr>
          <a:xfrm>
            <a:off x="3739896" y="2715768"/>
            <a:ext cx="216712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src/main.py</a:t>
            </a:r>
          </a:p>
        </p:txBody>
      </p:sp>
      <p:sp>
        <p:nvSpPr>
          <p:cNvPr id="14" name="Right Arrow 13"/>
          <p:cNvSpPr/>
          <p:nvPr/>
        </p:nvSpPr>
        <p:spPr>
          <a:xfrm>
            <a:off x="6099048" y="2532888"/>
            <a:ext cx="237744"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2148840"/>
            <a:ext cx="2423160" cy="91440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28816" y="2350008"/>
            <a:ext cx="216712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Redis 큐</a:t>
            </a:r>
          </a:p>
        </p:txBody>
      </p:sp>
      <p:sp>
        <p:nvSpPr>
          <p:cNvPr id="17" name="TextBox 16"/>
          <p:cNvSpPr txBox="1"/>
          <p:nvPr/>
        </p:nvSpPr>
        <p:spPr>
          <a:xfrm>
            <a:off x="6528816" y="2715768"/>
            <a:ext cx="216712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broker + backend</a:t>
            </a:r>
          </a:p>
        </p:txBody>
      </p:sp>
      <p:sp>
        <p:nvSpPr>
          <p:cNvPr id="18" name="Right Arrow 17"/>
          <p:cNvSpPr/>
          <p:nvPr/>
        </p:nvSpPr>
        <p:spPr>
          <a:xfrm>
            <a:off x="8887968" y="2532888"/>
            <a:ext cx="237744"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89719" y="2148840"/>
            <a:ext cx="2423160" cy="914400"/>
          </a:xfrm>
          <a:prstGeom prst="roundRect">
            <a:avLst>
              <a:gd name="adj" fmla="val 4000"/>
            </a:avLst>
          </a:prstGeom>
          <a:solidFill>
            <a:srgbClr val="1B202E"/>
          </a:solidFill>
          <a:ln w="15875">
            <a:solidFill>
              <a:srgbClr val="7CA9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17736" y="2350008"/>
            <a:ext cx="216712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Celery Worker</a:t>
            </a:r>
          </a:p>
        </p:txBody>
      </p:sp>
      <p:sp>
        <p:nvSpPr>
          <p:cNvPr id="21" name="TextBox 20"/>
          <p:cNvSpPr txBox="1"/>
          <p:nvPr/>
        </p:nvSpPr>
        <p:spPr>
          <a:xfrm>
            <a:off x="9317736" y="2715768"/>
            <a:ext cx="216712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worker/tasks.py</a:t>
            </a:r>
          </a:p>
        </p:txBody>
      </p:sp>
      <p:sp>
        <p:nvSpPr>
          <p:cNvPr id="22" name="Rounded Rectangle 21"/>
          <p:cNvSpPr/>
          <p:nvPr/>
        </p:nvSpPr>
        <p:spPr>
          <a:xfrm>
            <a:off x="822960" y="3429000"/>
            <a:ext cx="10543032" cy="1600200"/>
          </a:xfrm>
          <a:prstGeom prst="roundRect">
            <a:avLst>
              <a:gd name="adj" fmla="val 4000"/>
            </a:avLst>
          </a:prstGeom>
          <a:solidFill>
            <a:srgbClr val="161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51560" y="3584448"/>
            <a:ext cx="5486400" cy="274320"/>
          </a:xfrm>
          <a:prstGeom prst="rect">
            <a:avLst/>
          </a:prstGeom>
          <a:noFill/>
        </p:spPr>
        <p:txBody>
          <a:bodyPr wrap="square" anchor="t" lIns="0" rIns="0" tIns="0" bIns="0">
            <a:spAutoFit/>
          </a:bodyPr>
          <a:lstStyle/>
          <a:p>
            <a:pPr algn="l">
              <a:spcAft>
                <a:spcPts val="0"/>
              </a:spcAft>
              <a:defRPr sz="1200" b="1" i="0">
                <a:solidFill>
                  <a:srgbClr val="7CA9F0"/>
                </a:solidFill>
              </a:defRPr>
            </a:pPr>
            <a:r>
              <a:t>src/core/ — 워커가 순서대로 호출하는 5개 모듈</a:t>
            </a:r>
          </a:p>
        </p:txBody>
      </p:sp>
      <p:sp>
        <p:nvSpPr>
          <p:cNvPr id="24" name="Rounded Rectangle 23"/>
          <p:cNvSpPr/>
          <p:nvPr/>
        </p:nvSpPr>
        <p:spPr>
          <a:xfrm>
            <a:off x="1051560" y="3977639"/>
            <a:ext cx="1828800" cy="84124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79576" y="4178807"/>
            <a:ext cx="157276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pptx_parser</a:t>
            </a:r>
          </a:p>
        </p:txBody>
      </p:sp>
      <p:sp>
        <p:nvSpPr>
          <p:cNvPr id="26" name="TextBox 25"/>
          <p:cNvSpPr txBox="1"/>
          <p:nvPr/>
        </p:nvSpPr>
        <p:spPr>
          <a:xfrm>
            <a:off x="1179576" y="4544568"/>
            <a:ext cx="157276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노트 → 대본</a:t>
            </a:r>
          </a:p>
        </p:txBody>
      </p:sp>
      <p:sp>
        <p:nvSpPr>
          <p:cNvPr id="27" name="Right Arrow 26"/>
          <p:cNvSpPr/>
          <p:nvPr/>
        </p:nvSpPr>
        <p:spPr>
          <a:xfrm>
            <a:off x="2916936" y="4315968"/>
            <a:ext cx="109728"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063240" y="3977639"/>
            <a:ext cx="1828800" cy="84124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191256" y="4178807"/>
            <a:ext cx="157276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image_converter</a:t>
            </a:r>
          </a:p>
        </p:txBody>
      </p:sp>
      <p:sp>
        <p:nvSpPr>
          <p:cNvPr id="30" name="TextBox 29"/>
          <p:cNvSpPr txBox="1"/>
          <p:nvPr/>
        </p:nvSpPr>
        <p:spPr>
          <a:xfrm>
            <a:off x="3191256" y="4544568"/>
            <a:ext cx="157276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PPTX → PNG</a:t>
            </a:r>
          </a:p>
        </p:txBody>
      </p:sp>
      <p:sp>
        <p:nvSpPr>
          <p:cNvPr id="31" name="Right Arrow 30"/>
          <p:cNvSpPr/>
          <p:nvPr/>
        </p:nvSpPr>
        <p:spPr>
          <a:xfrm>
            <a:off x="4928616" y="4315968"/>
            <a:ext cx="109728"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74920" y="3977639"/>
            <a:ext cx="1828800" cy="84124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202936" y="4178807"/>
            <a:ext cx="157276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tts_engine</a:t>
            </a:r>
          </a:p>
        </p:txBody>
      </p:sp>
      <p:sp>
        <p:nvSpPr>
          <p:cNvPr id="34" name="TextBox 33"/>
          <p:cNvSpPr txBox="1"/>
          <p:nvPr/>
        </p:nvSpPr>
        <p:spPr>
          <a:xfrm>
            <a:off x="5202936" y="4544568"/>
            <a:ext cx="157276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대본 → MP3</a:t>
            </a:r>
          </a:p>
        </p:txBody>
      </p:sp>
      <p:sp>
        <p:nvSpPr>
          <p:cNvPr id="35" name="Right Arrow 34"/>
          <p:cNvSpPr/>
          <p:nvPr/>
        </p:nvSpPr>
        <p:spPr>
          <a:xfrm>
            <a:off x="6940296" y="4315968"/>
            <a:ext cx="109728"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086600" y="3977639"/>
            <a:ext cx="1828800" cy="84124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214616" y="4178807"/>
            <a:ext cx="157276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video_composer</a:t>
            </a:r>
          </a:p>
        </p:txBody>
      </p:sp>
      <p:sp>
        <p:nvSpPr>
          <p:cNvPr id="38" name="TextBox 37"/>
          <p:cNvSpPr txBox="1"/>
          <p:nvPr/>
        </p:nvSpPr>
        <p:spPr>
          <a:xfrm>
            <a:off x="7214616" y="4544568"/>
            <a:ext cx="157276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PNG+MP3 → MP4</a:t>
            </a:r>
          </a:p>
        </p:txBody>
      </p:sp>
      <p:sp>
        <p:nvSpPr>
          <p:cNvPr id="39" name="Right Arrow 38"/>
          <p:cNvSpPr/>
          <p:nvPr/>
        </p:nvSpPr>
        <p:spPr>
          <a:xfrm>
            <a:off x="8951976" y="4315968"/>
            <a:ext cx="109728" cy="182880"/>
          </a:xfrm>
          <a:prstGeom prst="rightArrow">
            <a:avLst/>
          </a:prstGeom>
          <a:solidFill>
            <a:srgbClr val="445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98280" y="3977639"/>
            <a:ext cx="1828800" cy="84124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26296" y="4178807"/>
            <a:ext cx="1572768" cy="310896"/>
          </a:xfrm>
          <a:prstGeom prst="rect">
            <a:avLst/>
          </a:prstGeom>
          <a:noFill/>
        </p:spPr>
        <p:txBody>
          <a:bodyPr wrap="square" anchor="t" lIns="0" rIns="0" tIns="0" bIns="0">
            <a:spAutoFit/>
          </a:bodyPr>
          <a:lstStyle/>
          <a:p>
            <a:pPr algn="ctr">
              <a:spcAft>
                <a:spcPts val="0"/>
              </a:spcAft>
              <a:defRPr sz="1350" b="1" i="0">
                <a:solidFill>
                  <a:srgbClr val="F2F5FA"/>
                </a:solidFill>
              </a:defRPr>
            </a:pPr>
            <a:r>
              <a:t>subtitle_maker</a:t>
            </a:r>
          </a:p>
        </p:txBody>
      </p:sp>
      <p:sp>
        <p:nvSpPr>
          <p:cNvPr id="42" name="TextBox 41"/>
          <p:cNvSpPr txBox="1"/>
          <p:nvPr/>
        </p:nvSpPr>
        <p:spPr>
          <a:xfrm>
            <a:off x="9226296" y="4544568"/>
            <a:ext cx="1572768" cy="310896"/>
          </a:xfrm>
          <a:prstGeom prst="rect">
            <a:avLst/>
          </a:prstGeom>
          <a:noFill/>
        </p:spPr>
        <p:txBody>
          <a:bodyPr wrap="square" anchor="t" lIns="0" rIns="0" tIns="0" bIns="0">
            <a:spAutoFit/>
          </a:bodyPr>
          <a:lstStyle/>
          <a:p>
            <a:pPr algn="ctr">
              <a:spcAft>
                <a:spcPts val="0"/>
              </a:spcAft>
              <a:defRPr sz="1050" b="0" i="0">
                <a:solidFill>
                  <a:srgbClr val="9AA6BD"/>
                </a:solidFill>
              </a:defRPr>
            </a:pPr>
            <a:r>
              <a:t>타임코드 → SRT</a:t>
            </a:r>
          </a:p>
        </p:txBody>
      </p:sp>
      <p:sp>
        <p:nvSpPr>
          <p:cNvPr id="43" name="Rounded Rectangle 42"/>
          <p:cNvSpPr/>
          <p:nvPr/>
        </p:nvSpPr>
        <p:spPr>
          <a:xfrm>
            <a:off x="822960" y="5230368"/>
            <a:ext cx="5148072" cy="786384"/>
          </a:xfrm>
          <a:prstGeom prst="roundRect">
            <a:avLst>
              <a:gd name="adj" fmla="val 4000"/>
            </a:avLst>
          </a:prstGeom>
          <a:solidFill>
            <a:srgbClr val="1B202E"/>
          </a:solidFill>
          <a:ln w="15875">
            <a:solidFill>
              <a:srgbClr val="66D9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97280" y="5394960"/>
            <a:ext cx="4572000" cy="292608"/>
          </a:xfrm>
          <a:prstGeom prst="rect">
            <a:avLst/>
          </a:prstGeom>
          <a:noFill/>
        </p:spPr>
        <p:txBody>
          <a:bodyPr wrap="square" anchor="t" lIns="0" rIns="0" tIns="0" bIns="0">
            <a:spAutoFit/>
          </a:bodyPr>
          <a:lstStyle/>
          <a:p>
            <a:pPr algn="l">
              <a:spcAft>
                <a:spcPts val="0"/>
              </a:spcAft>
              <a:defRPr sz="1500" b="1" i="0">
                <a:solidFill>
                  <a:srgbClr val="66D9A0"/>
                </a:solidFill>
              </a:defRPr>
            </a:pPr>
            <a:r>
              <a:t>final_*.mp4</a:t>
            </a:r>
          </a:p>
        </p:txBody>
      </p:sp>
      <p:sp>
        <p:nvSpPr>
          <p:cNvPr id="45" name="TextBox 44"/>
          <p:cNvSpPr txBox="1"/>
          <p:nvPr/>
        </p:nvSpPr>
        <p:spPr>
          <a:xfrm>
            <a:off x="1097280" y="5705856"/>
            <a:ext cx="4572000" cy="274320"/>
          </a:xfrm>
          <a:prstGeom prst="rect">
            <a:avLst/>
          </a:prstGeom>
          <a:noFill/>
        </p:spPr>
        <p:txBody>
          <a:bodyPr wrap="square" anchor="t" lIns="0" rIns="0" tIns="0" bIns="0">
            <a:spAutoFit/>
          </a:bodyPr>
          <a:lstStyle/>
          <a:p>
            <a:pPr algn="l">
              <a:spcAft>
                <a:spcPts val="0"/>
              </a:spcAft>
              <a:defRPr sz="1150" b="0" i="0">
                <a:solidFill>
                  <a:srgbClr val="9AA6BD"/>
                </a:solidFill>
              </a:defRPr>
            </a:pPr>
            <a:r>
              <a:t>1920×1080 · H.264 · AAC 48kHz</a:t>
            </a:r>
          </a:p>
        </p:txBody>
      </p:sp>
      <p:sp>
        <p:nvSpPr>
          <p:cNvPr id="46" name="Rounded Rectangle 45"/>
          <p:cNvSpPr/>
          <p:nvPr/>
        </p:nvSpPr>
        <p:spPr>
          <a:xfrm>
            <a:off x="6217920" y="5230368"/>
            <a:ext cx="5148072" cy="786384"/>
          </a:xfrm>
          <a:prstGeom prst="roundRect">
            <a:avLst>
              <a:gd name="adj" fmla="val 4000"/>
            </a:avLst>
          </a:prstGeom>
          <a:solidFill>
            <a:srgbClr val="1B202E"/>
          </a:solidFill>
          <a:ln w="15875">
            <a:solidFill>
              <a:srgbClr val="F2C0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492240" y="5394960"/>
            <a:ext cx="4572000" cy="292608"/>
          </a:xfrm>
          <a:prstGeom prst="rect">
            <a:avLst/>
          </a:prstGeom>
          <a:noFill/>
        </p:spPr>
        <p:txBody>
          <a:bodyPr wrap="square" anchor="t" lIns="0" rIns="0" tIns="0" bIns="0">
            <a:spAutoFit/>
          </a:bodyPr>
          <a:lstStyle/>
          <a:p>
            <a:pPr algn="l">
              <a:spcAft>
                <a:spcPts val="0"/>
              </a:spcAft>
              <a:defRPr sz="1500" b="1" i="0">
                <a:solidFill>
                  <a:srgbClr val="F2C05C"/>
                </a:solidFill>
              </a:defRPr>
            </a:pPr>
            <a:r>
              <a:t>subtitles_*.srt</a:t>
            </a:r>
          </a:p>
        </p:txBody>
      </p:sp>
      <p:sp>
        <p:nvSpPr>
          <p:cNvPr id="48" name="TextBox 47"/>
          <p:cNvSpPr txBox="1"/>
          <p:nvPr/>
        </p:nvSpPr>
        <p:spPr>
          <a:xfrm>
            <a:off x="6492240" y="5705856"/>
            <a:ext cx="4572000" cy="274320"/>
          </a:xfrm>
          <a:prstGeom prst="rect">
            <a:avLst/>
          </a:prstGeom>
          <a:noFill/>
        </p:spPr>
        <p:txBody>
          <a:bodyPr wrap="square" anchor="t" lIns="0" rIns="0" tIns="0" bIns="0">
            <a:spAutoFit/>
          </a:bodyPr>
          <a:lstStyle/>
          <a:p>
            <a:pPr algn="l">
              <a:spcAft>
                <a:spcPts val="0"/>
              </a:spcAft>
              <a:defRPr sz="1150" b="0" i="0">
                <a:solidFill>
                  <a:srgbClr val="9AA6BD"/>
                </a:solidFill>
              </a:defRPr>
            </a:pPr>
            <a:r>
              <a:t>YouTube 업로드용 자막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PROCESS</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생성 프로세스 — 6단계 파이프라인</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07</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94560"/>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97280" y="2414015"/>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10%</a:t>
            </a:r>
          </a:p>
        </p:txBody>
      </p:sp>
      <p:sp>
        <p:nvSpPr>
          <p:cNvPr id="9" name="TextBox 8"/>
          <p:cNvSpPr txBox="1"/>
          <p:nvPr/>
        </p:nvSpPr>
        <p:spPr>
          <a:xfrm>
            <a:off x="1097280" y="270662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1. 노트 추출</a:t>
            </a:r>
          </a:p>
        </p:txBody>
      </p:sp>
      <p:sp>
        <p:nvSpPr>
          <p:cNvPr id="10" name="TextBox 9"/>
          <p:cNvSpPr txBox="1"/>
          <p:nvPr/>
        </p:nvSpPr>
        <p:spPr>
          <a:xfrm>
            <a:off x="1097280" y="3054096"/>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숨김 슬라이드 제외</a:t>
            </a:r>
          </a:p>
          <a:p>
            <a:pPr algn="l">
              <a:spcAft>
                <a:spcPts val="300"/>
              </a:spcAft>
              <a:defRPr sz="1150" b="0" i="0">
                <a:solidFill>
                  <a:srgbClr val="9AA6BD"/>
                </a:solidFill>
              </a:defRPr>
            </a:pPr>
            <a:r>
              <a:t>첫 줄 제외 후 대본화</a:t>
            </a:r>
          </a:p>
        </p:txBody>
      </p:sp>
      <p:sp>
        <p:nvSpPr>
          <p:cNvPr id="11" name="TextBox 10"/>
          <p:cNvSpPr txBox="1"/>
          <p:nvPr/>
        </p:nvSpPr>
        <p:spPr>
          <a:xfrm>
            <a:off x="1097280" y="3566160"/>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pptx_parser</a:t>
            </a:r>
          </a:p>
        </p:txBody>
      </p:sp>
      <p:sp>
        <p:nvSpPr>
          <p:cNvPr id="12" name="Rounded Rectangle 11"/>
          <p:cNvSpPr/>
          <p:nvPr/>
        </p:nvSpPr>
        <p:spPr>
          <a:xfrm>
            <a:off x="4416552" y="2194560"/>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90872" y="2414015"/>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30%</a:t>
            </a:r>
          </a:p>
        </p:txBody>
      </p:sp>
      <p:sp>
        <p:nvSpPr>
          <p:cNvPr id="14" name="TextBox 13"/>
          <p:cNvSpPr txBox="1"/>
          <p:nvPr/>
        </p:nvSpPr>
        <p:spPr>
          <a:xfrm>
            <a:off x="4690872" y="270662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2. 이미지 변환</a:t>
            </a:r>
          </a:p>
        </p:txBody>
      </p:sp>
      <p:sp>
        <p:nvSpPr>
          <p:cNvPr id="15" name="TextBox 14"/>
          <p:cNvSpPr txBox="1"/>
          <p:nvPr/>
        </p:nvSpPr>
        <p:spPr>
          <a:xfrm>
            <a:off x="4690872" y="3054096"/>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Keynote로 PDF 추출</a:t>
            </a:r>
          </a:p>
          <a:p>
            <a:pPr algn="l">
              <a:spcAft>
                <a:spcPts val="300"/>
              </a:spcAft>
              <a:defRPr sz="1150" b="0" i="0">
                <a:solidFill>
                  <a:srgbClr val="9AA6BD"/>
                </a:solidFill>
              </a:defRPr>
            </a:pPr>
            <a:r>
              <a:t>→ PyMuPDF로 PNG</a:t>
            </a:r>
          </a:p>
        </p:txBody>
      </p:sp>
      <p:sp>
        <p:nvSpPr>
          <p:cNvPr id="16" name="TextBox 15"/>
          <p:cNvSpPr txBox="1"/>
          <p:nvPr/>
        </p:nvSpPr>
        <p:spPr>
          <a:xfrm>
            <a:off x="4690872" y="3566160"/>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image_converter</a:t>
            </a:r>
          </a:p>
        </p:txBody>
      </p:sp>
      <p:sp>
        <p:nvSpPr>
          <p:cNvPr id="17" name="Rounded Rectangle 16"/>
          <p:cNvSpPr/>
          <p:nvPr/>
        </p:nvSpPr>
        <p:spPr>
          <a:xfrm>
            <a:off x="8010144" y="2194560"/>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84464" y="2414015"/>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30→80%</a:t>
            </a:r>
          </a:p>
        </p:txBody>
      </p:sp>
      <p:sp>
        <p:nvSpPr>
          <p:cNvPr id="19" name="TextBox 18"/>
          <p:cNvSpPr txBox="1"/>
          <p:nvPr/>
        </p:nvSpPr>
        <p:spPr>
          <a:xfrm>
            <a:off x="8284464" y="270662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3. 음성 합성</a:t>
            </a:r>
          </a:p>
        </p:txBody>
      </p:sp>
      <p:sp>
        <p:nvSpPr>
          <p:cNvPr id="20" name="TextBox 19"/>
          <p:cNvSpPr txBox="1"/>
          <p:nvPr/>
        </p:nvSpPr>
        <p:spPr>
          <a:xfrm>
            <a:off x="8284464" y="3054096"/>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edge-tts로 슬라이드별 MP3</a:t>
            </a:r>
          </a:p>
          <a:p>
            <a:pPr algn="l">
              <a:spcAft>
                <a:spcPts val="300"/>
              </a:spcAft>
              <a:defRPr sz="1150" b="0" i="0">
                <a:solidFill>
                  <a:srgbClr val="9AA6BD"/>
                </a:solidFill>
              </a:defRPr>
            </a:pPr>
            <a:r>
              <a:t>길이(초)를 함께 계산</a:t>
            </a:r>
          </a:p>
        </p:txBody>
      </p:sp>
      <p:sp>
        <p:nvSpPr>
          <p:cNvPr id="21" name="TextBox 20"/>
          <p:cNvSpPr txBox="1"/>
          <p:nvPr/>
        </p:nvSpPr>
        <p:spPr>
          <a:xfrm>
            <a:off x="8284464" y="3566160"/>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tts_engine</a:t>
            </a:r>
          </a:p>
        </p:txBody>
      </p:sp>
      <p:sp>
        <p:nvSpPr>
          <p:cNvPr id="22" name="Rounded Rectangle 21"/>
          <p:cNvSpPr/>
          <p:nvPr/>
        </p:nvSpPr>
        <p:spPr>
          <a:xfrm>
            <a:off x="822960" y="4069079"/>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4288536"/>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~80%</a:t>
            </a:r>
          </a:p>
        </p:txBody>
      </p:sp>
      <p:sp>
        <p:nvSpPr>
          <p:cNvPr id="24" name="TextBox 23"/>
          <p:cNvSpPr txBox="1"/>
          <p:nvPr/>
        </p:nvSpPr>
        <p:spPr>
          <a:xfrm>
            <a:off x="1097280" y="458114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4. 클립 생성</a:t>
            </a:r>
          </a:p>
        </p:txBody>
      </p:sp>
      <p:sp>
        <p:nvSpPr>
          <p:cNvPr id="25" name="TextBox 24"/>
          <p:cNvSpPr txBox="1"/>
          <p:nvPr/>
        </p:nvSpPr>
        <p:spPr>
          <a:xfrm>
            <a:off x="1097280" y="4928615"/>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이미지+오디오를 슬라이드별</a:t>
            </a:r>
          </a:p>
          <a:p>
            <a:pPr algn="l">
              <a:spcAft>
                <a:spcPts val="300"/>
              </a:spcAft>
              <a:defRPr sz="1150" b="0" i="0">
                <a:solidFill>
                  <a:srgbClr val="9AA6BD"/>
                </a:solidFill>
              </a:defRPr>
            </a:pPr>
            <a:r>
              <a:t>MP4 클립으로 합성</a:t>
            </a:r>
          </a:p>
        </p:txBody>
      </p:sp>
      <p:sp>
        <p:nvSpPr>
          <p:cNvPr id="26" name="TextBox 25"/>
          <p:cNvSpPr txBox="1"/>
          <p:nvPr/>
        </p:nvSpPr>
        <p:spPr>
          <a:xfrm>
            <a:off x="1097280" y="5440679"/>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video_composer</a:t>
            </a:r>
          </a:p>
        </p:txBody>
      </p:sp>
      <p:sp>
        <p:nvSpPr>
          <p:cNvPr id="27" name="Rounded Rectangle 26"/>
          <p:cNvSpPr/>
          <p:nvPr/>
        </p:nvSpPr>
        <p:spPr>
          <a:xfrm>
            <a:off x="4416552" y="4069079"/>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90872" y="4288536"/>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85%</a:t>
            </a:r>
          </a:p>
        </p:txBody>
      </p:sp>
      <p:sp>
        <p:nvSpPr>
          <p:cNvPr id="29" name="TextBox 28"/>
          <p:cNvSpPr txBox="1"/>
          <p:nvPr/>
        </p:nvSpPr>
        <p:spPr>
          <a:xfrm>
            <a:off x="4690872" y="458114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5. 자막 생성</a:t>
            </a:r>
          </a:p>
        </p:txBody>
      </p:sp>
      <p:sp>
        <p:nvSpPr>
          <p:cNvPr id="30" name="TextBox 29"/>
          <p:cNvSpPr txBox="1"/>
          <p:nvPr/>
        </p:nvSpPr>
        <p:spPr>
          <a:xfrm>
            <a:off x="4690872" y="4928615"/>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오디오 길이 누적으로</a:t>
            </a:r>
          </a:p>
          <a:p>
            <a:pPr algn="l">
              <a:spcAft>
                <a:spcPts val="300"/>
              </a:spcAft>
              <a:defRPr sz="1150" b="0" i="0">
                <a:solidFill>
                  <a:srgbClr val="9AA6BD"/>
                </a:solidFill>
              </a:defRPr>
            </a:pPr>
            <a:r>
              <a:t>SRT 타임코드 계산</a:t>
            </a:r>
          </a:p>
        </p:txBody>
      </p:sp>
      <p:sp>
        <p:nvSpPr>
          <p:cNvPr id="31" name="TextBox 30"/>
          <p:cNvSpPr txBox="1"/>
          <p:nvPr/>
        </p:nvSpPr>
        <p:spPr>
          <a:xfrm>
            <a:off x="4690872" y="5440679"/>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subtitle_maker</a:t>
            </a:r>
          </a:p>
        </p:txBody>
      </p:sp>
      <p:sp>
        <p:nvSpPr>
          <p:cNvPr id="32" name="Rounded Rectangle 31"/>
          <p:cNvSpPr/>
          <p:nvPr/>
        </p:nvSpPr>
        <p:spPr>
          <a:xfrm>
            <a:off x="8010144" y="4069079"/>
            <a:ext cx="3319272" cy="166420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84464" y="4288536"/>
            <a:ext cx="1463040" cy="274320"/>
          </a:xfrm>
          <a:prstGeom prst="rect">
            <a:avLst/>
          </a:prstGeom>
          <a:noFill/>
        </p:spPr>
        <p:txBody>
          <a:bodyPr wrap="square" anchor="t" lIns="0" rIns="0" tIns="0" bIns="0">
            <a:spAutoFit/>
          </a:bodyPr>
          <a:lstStyle/>
          <a:p>
            <a:pPr algn="l">
              <a:spcAft>
                <a:spcPts val="0"/>
              </a:spcAft>
              <a:defRPr sz="1200" b="1" i="0">
                <a:solidFill>
                  <a:srgbClr val="7CA9F0"/>
                </a:solidFill>
              </a:defRPr>
            </a:pPr>
            <a:r>
              <a:t>90→100%</a:t>
            </a:r>
          </a:p>
        </p:txBody>
      </p:sp>
      <p:sp>
        <p:nvSpPr>
          <p:cNvPr id="34" name="TextBox 33"/>
          <p:cNvSpPr txBox="1"/>
          <p:nvPr/>
        </p:nvSpPr>
        <p:spPr>
          <a:xfrm>
            <a:off x="8284464" y="4581144"/>
            <a:ext cx="2743200" cy="320040"/>
          </a:xfrm>
          <a:prstGeom prst="rect">
            <a:avLst/>
          </a:prstGeom>
          <a:noFill/>
        </p:spPr>
        <p:txBody>
          <a:bodyPr wrap="square" anchor="t" lIns="0" rIns="0" tIns="0" bIns="0">
            <a:spAutoFit/>
          </a:bodyPr>
          <a:lstStyle/>
          <a:p>
            <a:pPr algn="l">
              <a:spcAft>
                <a:spcPts val="0"/>
              </a:spcAft>
              <a:defRPr sz="1600" b="1" i="0">
                <a:solidFill>
                  <a:srgbClr val="F2F5FA"/>
                </a:solidFill>
              </a:defRPr>
            </a:pPr>
            <a:r>
              <a:t>6. 전체 병합</a:t>
            </a:r>
          </a:p>
        </p:txBody>
      </p:sp>
      <p:sp>
        <p:nvSpPr>
          <p:cNvPr id="35" name="TextBox 34"/>
          <p:cNvSpPr txBox="1"/>
          <p:nvPr/>
        </p:nvSpPr>
        <p:spPr>
          <a:xfrm>
            <a:off x="8284464" y="4928615"/>
            <a:ext cx="2834640" cy="640080"/>
          </a:xfrm>
          <a:prstGeom prst="rect">
            <a:avLst/>
          </a:prstGeom>
          <a:noFill/>
        </p:spPr>
        <p:txBody>
          <a:bodyPr wrap="square" anchor="t" lIns="0" rIns="0" tIns="0" bIns="0">
            <a:spAutoFit/>
          </a:bodyPr>
          <a:lstStyle/>
          <a:p>
            <a:pPr algn="l">
              <a:spcAft>
                <a:spcPts val="300"/>
              </a:spcAft>
              <a:defRPr sz="1150" b="0" i="0">
                <a:solidFill>
                  <a:srgbClr val="9AA6BD"/>
                </a:solidFill>
              </a:defRPr>
            </a:pPr>
            <a:r>
              <a:t>클립을 무손실로 이어붙여</a:t>
            </a:r>
          </a:p>
          <a:p>
            <a:pPr algn="l">
              <a:spcAft>
                <a:spcPts val="300"/>
              </a:spcAft>
              <a:defRPr sz="1150" b="0" i="0">
                <a:solidFill>
                  <a:srgbClr val="9AA6BD"/>
                </a:solidFill>
              </a:defRPr>
            </a:pPr>
            <a:r>
              <a:t>최종 MP4 완성</a:t>
            </a:r>
          </a:p>
        </p:txBody>
      </p:sp>
      <p:sp>
        <p:nvSpPr>
          <p:cNvPr id="36" name="TextBox 35"/>
          <p:cNvSpPr txBox="1"/>
          <p:nvPr/>
        </p:nvSpPr>
        <p:spPr>
          <a:xfrm>
            <a:off x="8284464" y="5440679"/>
            <a:ext cx="2834640" cy="237744"/>
          </a:xfrm>
          <a:prstGeom prst="rect">
            <a:avLst/>
          </a:prstGeom>
          <a:noFill/>
        </p:spPr>
        <p:txBody>
          <a:bodyPr wrap="square" anchor="t" lIns="0" rIns="0" tIns="0" bIns="0">
            <a:spAutoFit/>
          </a:bodyPr>
          <a:lstStyle/>
          <a:p>
            <a:pPr algn="l">
              <a:spcAft>
                <a:spcPts val="0"/>
              </a:spcAft>
              <a:defRPr sz="1050" b="0" i="0">
                <a:solidFill>
                  <a:srgbClr val="5E6A82"/>
                </a:solidFill>
              </a:defRPr>
            </a:pPr>
            <a:r>
              <a:t>concat</a:t>
            </a:r>
          </a:p>
        </p:txBody>
      </p:sp>
      <p:sp>
        <p:nvSpPr>
          <p:cNvPr id="37" name="Rounded Rectangle 36"/>
          <p:cNvSpPr/>
          <p:nvPr/>
        </p:nvSpPr>
        <p:spPr>
          <a:xfrm>
            <a:off x="822960" y="5504688"/>
            <a:ext cx="10543032" cy="420624"/>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97280" y="5605272"/>
            <a:ext cx="10058400" cy="274320"/>
          </a:xfrm>
          <a:prstGeom prst="rect">
            <a:avLst/>
          </a:prstGeom>
          <a:noFill/>
        </p:spPr>
        <p:txBody>
          <a:bodyPr wrap="square" anchor="t" lIns="0" rIns="0" tIns="0" bIns="0">
            <a:spAutoFit/>
          </a:bodyPr>
          <a:lstStyle/>
          <a:p>
            <a:pPr algn="l">
              <a:spcAft>
                <a:spcPts val="0"/>
              </a:spcAft>
              <a:defRPr sz="1150" b="0" i="0">
                <a:solidFill>
                  <a:srgbClr val="9AA6BD"/>
                </a:solidFill>
              </a:defRPr>
            </a:pPr>
            <a:r>
              <a:t>진행률이 멈춘 지점 = 문제가 생긴 단계. 30%에서 멈추면 이미지 변환, 85% 부근이면 병합 단계를 의심하세요.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HOW TO RUN</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실행 방법 — 터미널 3개</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08</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TextBox 6"/>
          <p:cNvSpPr txBox="1"/>
          <p:nvPr/>
        </p:nvSpPr>
        <p:spPr>
          <a:xfrm>
            <a:off x="822960" y="2103120"/>
            <a:ext cx="5486400" cy="274320"/>
          </a:xfrm>
          <a:prstGeom prst="rect">
            <a:avLst/>
          </a:prstGeom>
          <a:noFill/>
        </p:spPr>
        <p:txBody>
          <a:bodyPr wrap="square" anchor="t" lIns="0" rIns="0" tIns="0" bIns="0">
            <a:spAutoFit/>
          </a:bodyPr>
          <a:lstStyle/>
          <a:p>
            <a:pPr algn="l">
              <a:spcAft>
                <a:spcPts val="0"/>
              </a:spcAft>
              <a:defRPr sz="1400" b="1" i="0">
                <a:solidFill>
                  <a:srgbClr val="7CA9F0"/>
                </a:solidFill>
              </a:defRPr>
            </a:pPr>
            <a:r>
              <a:t>① 최초 1회 준비</a:t>
            </a:r>
          </a:p>
        </p:txBody>
      </p:sp>
      <p:sp>
        <p:nvSpPr>
          <p:cNvPr id="8" name="Rounded Rectangle 7"/>
          <p:cNvSpPr/>
          <p:nvPr/>
        </p:nvSpPr>
        <p:spPr>
          <a:xfrm>
            <a:off x="822960" y="2450592"/>
            <a:ext cx="5120640" cy="149961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0704" y="2633472"/>
            <a:ext cx="4663440" cy="1133855"/>
          </a:xfrm>
          <a:prstGeom prst="rect">
            <a:avLst/>
          </a:prstGeom>
          <a:noFill/>
        </p:spPr>
        <p:txBody>
          <a:bodyPr wrap="square">
            <a:spAutoFit/>
          </a:bodyPr>
          <a:lstStyle/>
          <a:p>
            <a:pPr>
              <a:spcAft>
                <a:spcPts val="300"/>
              </a:spcAft>
              <a:defRPr sz="1250">
                <a:solidFill>
                  <a:srgbClr val="66D9A0"/>
                </a:solidFill>
                <a:latin typeface="Menlo"/>
              </a:defRPr>
            </a:pPr>
            <a:r>
              <a:t>$ brew install ffmpeg redis libreoffice</a:t>
            </a:r>
          </a:p>
          <a:p>
            <a:pPr>
              <a:spcAft>
                <a:spcPts val="300"/>
              </a:spcAft>
              <a:defRPr sz="1250">
                <a:solidFill>
                  <a:srgbClr val="66D9A0"/>
                </a:solidFill>
                <a:latin typeface="Menlo"/>
              </a:defRPr>
            </a:pPr>
            <a:r>
              <a:t>$ python3 -m venv .venv</a:t>
            </a:r>
          </a:p>
          <a:p>
            <a:pPr>
              <a:spcAft>
                <a:spcPts val="300"/>
              </a:spcAft>
              <a:defRPr sz="1250">
                <a:solidFill>
                  <a:srgbClr val="66D9A0"/>
                </a:solidFill>
                <a:latin typeface="Menlo"/>
              </a:defRPr>
            </a:pPr>
            <a:r>
              <a:t>$ source .venv/bin/activate</a:t>
            </a:r>
          </a:p>
          <a:p>
            <a:pPr>
              <a:spcAft>
                <a:spcPts val="300"/>
              </a:spcAft>
              <a:defRPr sz="1250">
                <a:solidFill>
                  <a:srgbClr val="66D9A0"/>
                </a:solidFill>
                <a:latin typeface="Menlo"/>
              </a:defRPr>
            </a:pPr>
            <a:r>
              <a:t>$ pip install -r requirements.txt</a:t>
            </a:r>
          </a:p>
        </p:txBody>
      </p:sp>
      <p:sp>
        <p:nvSpPr>
          <p:cNvPr id="10" name="TextBox 9"/>
          <p:cNvSpPr txBox="1"/>
          <p:nvPr/>
        </p:nvSpPr>
        <p:spPr>
          <a:xfrm>
            <a:off x="822960" y="4224528"/>
            <a:ext cx="5486400" cy="274320"/>
          </a:xfrm>
          <a:prstGeom prst="rect">
            <a:avLst/>
          </a:prstGeom>
          <a:noFill/>
        </p:spPr>
        <p:txBody>
          <a:bodyPr wrap="square" anchor="t" lIns="0" rIns="0" tIns="0" bIns="0">
            <a:spAutoFit/>
          </a:bodyPr>
          <a:lstStyle/>
          <a:p>
            <a:pPr algn="l">
              <a:spcAft>
                <a:spcPts val="0"/>
              </a:spcAft>
              <a:defRPr sz="1400" b="1" i="0">
                <a:solidFill>
                  <a:srgbClr val="7CA9F0"/>
                </a:solidFill>
              </a:defRPr>
            </a:pPr>
            <a:r>
              <a:t>② 접속</a:t>
            </a:r>
          </a:p>
        </p:txBody>
      </p:sp>
      <p:sp>
        <p:nvSpPr>
          <p:cNvPr id="11" name="Rounded Rectangle 10"/>
          <p:cNvSpPr/>
          <p:nvPr/>
        </p:nvSpPr>
        <p:spPr>
          <a:xfrm>
            <a:off x="822960" y="4572000"/>
            <a:ext cx="5120640" cy="67665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0704" y="4754880"/>
            <a:ext cx="4663440" cy="310896"/>
          </a:xfrm>
          <a:prstGeom prst="rect">
            <a:avLst/>
          </a:prstGeom>
          <a:noFill/>
        </p:spPr>
        <p:txBody>
          <a:bodyPr wrap="square">
            <a:spAutoFit/>
          </a:bodyPr>
          <a:lstStyle/>
          <a:p>
            <a:pPr>
              <a:spcAft>
                <a:spcPts val="300"/>
              </a:spcAft>
              <a:defRPr sz="1250">
                <a:solidFill>
                  <a:srgbClr val="66D9A0"/>
                </a:solidFill>
                <a:latin typeface="Menlo"/>
              </a:defRPr>
            </a:pPr>
            <a:r>
              <a:t>$ open http://localhost:8000</a:t>
            </a:r>
          </a:p>
        </p:txBody>
      </p:sp>
      <p:sp>
        <p:nvSpPr>
          <p:cNvPr id="13" name="TextBox 12"/>
          <p:cNvSpPr txBox="1"/>
          <p:nvPr/>
        </p:nvSpPr>
        <p:spPr>
          <a:xfrm>
            <a:off x="6245352" y="2103120"/>
            <a:ext cx="5486400" cy="274320"/>
          </a:xfrm>
          <a:prstGeom prst="rect">
            <a:avLst/>
          </a:prstGeom>
          <a:noFill/>
        </p:spPr>
        <p:txBody>
          <a:bodyPr wrap="square" anchor="t" lIns="0" rIns="0" tIns="0" bIns="0">
            <a:spAutoFit/>
          </a:bodyPr>
          <a:lstStyle/>
          <a:p>
            <a:pPr algn="l">
              <a:spcAft>
                <a:spcPts val="0"/>
              </a:spcAft>
              <a:defRPr sz="1400" b="1" i="0">
                <a:solidFill>
                  <a:srgbClr val="7CA9F0"/>
                </a:solidFill>
              </a:defRPr>
            </a:pPr>
            <a:r>
              <a:t>③ 매번 — 터미널 3개를 각각 실행</a:t>
            </a:r>
          </a:p>
        </p:txBody>
      </p:sp>
      <p:sp>
        <p:nvSpPr>
          <p:cNvPr id="14" name="TextBox 13"/>
          <p:cNvSpPr txBox="1"/>
          <p:nvPr/>
        </p:nvSpPr>
        <p:spPr>
          <a:xfrm>
            <a:off x="6245352" y="2450592"/>
            <a:ext cx="5120640" cy="256032"/>
          </a:xfrm>
          <a:prstGeom prst="rect">
            <a:avLst/>
          </a:prstGeom>
          <a:noFill/>
        </p:spPr>
        <p:txBody>
          <a:bodyPr wrap="square" anchor="t" lIns="0" rIns="0" tIns="0" bIns="0">
            <a:spAutoFit/>
          </a:bodyPr>
          <a:lstStyle/>
          <a:p>
            <a:pPr algn="l">
              <a:spcAft>
                <a:spcPts val="0"/>
              </a:spcAft>
              <a:defRPr sz="1200" b="0" i="0">
                <a:solidFill>
                  <a:srgbClr val="9AA6BD"/>
                </a:solidFill>
              </a:defRPr>
            </a:pPr>
            <a:r>
              <a:t>터미널 1 · 메시지 브로커</a:t>
            </a:r>
          </a:p>
        </p:txBody>
      </p:sp>
      <p:sp>
        <p:nvSpPr>
          <p:cNvPr id="15" name="Rounded Rectangle 14"/>
          <p:cNvSpPr/>
          <p:nvPr/>
        </p:nvSpPr>
        <p:spPr>
          <a:xfrm>
            <a:off x="6245352" y="2724912"/>
            <a:ext cx="5120640" cy="67665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83096" y="2907792"/>
            <a:ext cx="4663440" cy="310896"/>
          </a:xfrm>
          <a:prstGeom prst="rect">
            <a:avLst/>
          </a:prstGeom>
          <a:noFill/>
        </p:spPr>
        <p:txBody>
          <a:bodyPr wrap="square">
            <a:spAutoFit/>
          </a:bodyPr>
          <a:lstStyle/>
          <a:p>
            <a:pPr>
              <a:spcAft>
                <a:spcPts val="300"/>
              </a:spcAft>
              <a:defRPr sz="1150">
                <a:solidFill>
                  <a:srgbClr val="66D9A0"/>
                </a:solidFill>
                <a:latin typeface="Menlo"/>
              </a:defRPr>
            </a:pPr>
            <a:r>
              <a:t>$ redis-server</a:t>
            </a:r>
          </a:p>
        </p:txBody>
      </p:sp>
      <p:sp>
        <p:nvSpPr>
          <p:cNvPr id="17" name="TextBox 16"/>
          <p:cNvSpPr txBox="1"/>
          <p:nvPr/>
        </p:nvSpPr>
        <p:spPr>
          <a:xfrm>
            <a:off x="6245352" y="3529584"/>
            <a:ext cx="5120640" cy="256032"/>
          </a:xfrm>
          <a:prstGeom prst="rect">
            <a:avLst/>
          </a:prstGeom>
          <a:noFill/>
        </p:spPr>
        <p:txBody>
          <a:bodyPr wrap="square" anchor="t" lIns="0" rIns="0" tIns="0" bIns="0">
            <a:spAutoFit/>
          </a:bodyPr>
          <a:lstStyle/>
          <a:p>
            <a:pPr algn="l">
              <a:spcAft>
                <a:spcPts val="0"/>
              </a:spcAft>
              <a:defRPr sz="1200" b="0" i="0">
                <a:solidFill>
                  <a:srgbClr val="9AA6BD"/>
                </a:solidFill>
              </a:defRPr>
            </a:pPr>
            <a:r>
              <a:t>터미널 2 · 백그라운드 워커</a:t>
            </a:r>
          </a:p>
        </p:txBody>
      </p:sp>
      <p:sp>
        <p:nvSpPr>
          <p:cNvPr id="18" name="Rounded Rectangle 17"/>
          <p:cNvSpPr/>
          <p:nvPr/>
        </p:nvSpPr>
        <p:spPr>
          <a:xfrm>
            <a:off x="6245352" y="3803904"/>
            <a:ext cx="5120640" cy="67665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83096" y="3986784"/>
            <a:ext cx="4663440" cy="310896"/>
          </a:xfrm>
          <a:prstGeom prst="rect">
            <a:avLst/>
          </a:prstGeom>
          <a:noFill/>
        </p:spPr>
        <p:txBody>
          <a:bodyPr wrap="square">
            <a:spAutoFit/>
          </a:bodyPr>
          <a:lstStyle/>
          <a:p>
            <a:pPr>
              <a:spcAft>
                <a:spcPts val="300"/>
              </a:spcAft>
              <a:defRPr sz="1150">
                <a:solidFill>
                  <a:srgbClr val="66D9A0"/>
                </a:solidFill>
                <a:latin typeface="Menlo"/>
              </a:defRPr>
            </a:pPr>
            <a:r>
              <a:t>$ celery -A src.worker.celery_app worker -l info</a:t>
            </a:r>
          </a:p>
        </p:txBody>
      </p:sp>
      <p:sp>
        <p:nvSpPr>
          <p:cNvPr id="20" name="TextBox 19"/>
          <p:cNvSpPr txBox="1"/>
          <p:nvPr/>
        </p:nvSpPr>
        <p:spPr>
          <a:xfrm>
            <a:off x="6245352" y="4608576"/>
            <a:ext cx="5120640" cy="256032"/>
          </a:xfrm>
          <a:prstGeom prst="rect">
            <a:avLst/>
          </a:prstGeom>
          <a:noFill/>
        </p:spPr>
        <p:txBody>
          <a:bodyPr wrap="square" anchor="t" lIns="0" rIns="0" tIns="0" bIns="0">
            <a:spAutoFit/>
          </a:bodyPr>
          <a:lstStyle/>
          <a:p>
            <a:pPr algn="l">
              <a:spcAft>
                <a:spcPts val="0"/>
              </a:spcAft>
              <a:defRPr sz="1200" b="0" i="0">
                <a:solidFill>
                  <a:srgbClr val="9AA6BD"/>
                </a:solidFill>
              </a:defRPr>
            </a:pPr>
            <a:r>
              <a:t>터미널 3 · 웹 서버</a:t>
            </a:r>
          </a:p>
        </p:txBody>
      </p:sp>
      <p:sp>
        <p:nvSpPr>
          <p:cNvPr id="21" name="Rounded Rectangle 20"/>
          <p:cNvSpPr/>
          <p:nvPr/>
        </p:nvSpPr>
        <p:spPr>
          <a:xfrm>
            <a:off x="6245352" y="4882896"/>
            <a:ext cx="5120640" cy="676656"/>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83096" y="5065776"/>
            <a:ext cx="4663440" cy="310896"/>
          </a:xfrm>
          <a:prstGeom prst="rect">
            <a:avLst/>
          </a:prstGeom>
          <a:noFill/>
        </p:spPr>
        <p:txBody>
          <a:bodyPr wrap="square">
            <a:spAutoFit/>
          </a:bodyPr>
          <a:lstStyle/>
          <a:p>
            <a:pPr>
              <a:spcAft>
                <a:spcPts val="300"/>
              </a:spcAft>
              <a:defRPr sz="1150">
                <a:solidFill>
                  <a:srgbClr val="66D9A0"/>
                </a:solidFill>
                <a:latin typeface="Menlo"/>
              </a:defRPr>
            </a:pPr>
            <a:r>
              <a:t>$ uvicorn src.main:app --reload</a:t>
            </a:r>
          </a:p>
        </p:txBody>
      </p:sp>
      <p:sp>
        <p:nvSpPr>
          <p:cNvPr id="23" name="Rounded Rectangle 22"/>
          <p:cNvSpPr/>
          <p:nvPr/>
        </p:nvSpPr>
        <p:spPr>
          <a:xfrm>
            <a:off x="6245352" y="5742432"/>
            <a:ext cx="5120640" cy="658368"/>
          </a:xfrm>
          <a:prstGeom prst="roundRect">
            <a:avLst>
              <a:gd name="adj" fmla="val 4000"/>
            </a:avLst>
          </a:prstGeom>
          <a:solidFill>
            <a:srgbClr val="1B202E"/>
          </a:solidFill>
          <a:ln w="15875">
            <a:solidFill>
              <a:srgbClr val="F2C0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19672" y="5907024"/>
            <a:ext cx="4663440" cy="365760"/>
          </a:xfrm>
          <a:prstGeom prst="rect">
            <a:avLst/>
          </a:prstGeom>
          <a:noFill/>
        </p:spPr>
        <p:txBody>
          <a:bodyPr wrap="square" anchor="t" lIns="0" rIns="0" tIns="0" bIns="0">
            <a:spAutoFit/>
          </a:bodyPr>
          <a:lstStyle/>
          <a:p>
            <a:pPr algn="l">
              <a:spcAft>
                <a:spcPts val="0"/>
              </a:spcAft>
              <a:defRPr sz="1250" b="1" i="0">
                <a:solidFill>
                  <a:srgbClr val="F2C05C"/>
                </a:solidFill>
              </a:defRPr>
            </a:pPr>
            <a:r>
              <a:t>⚠ 워커를 띄우지 않으면 진행률이 0%에서 멈춥니다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OPTIONS</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업로드 시 선택하는 설정</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09</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94560"/>
            <a:ext cx="6309360" cy="356616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2450592"/>
            <a:ext cx="5486400" cy="320040"/>
          </a:xfrm>
          <a:prstGeom prst="rect">
            <a:avLst/>
          </a:prstGeom>
          <a:noFill/>
        </p:spPr>
        <p:txBody>
          <a:bodyPr wrap="square" anchor="t" lIns="0" rIns="0" tIns="0" bIns="0">
            <a:spAutoFit/>
          </a:bodyPr>
          <a:lstStyle/>
          <a:p>
            <a:pPr algn="l">
              <a:spcAft>
                <a:spcPts val="0"/>
              </a:spcAft>
              <a:defRPr sz="1700" b="1" i="0">
                <a:solidFill>
                  <a:srgbClr val="F2F5FA"/>
                </a:solidFill>
              </a:defRPr>
            </a:pPr>
            <a:r>
              <a:t>목소리 (edge-tts)</a:t>
            </a:r>
          </a:p>
        </p:txBody>
      </p:sp>
      <p:sp>
        <p:nvSpPr>
          <p:cNvPr id="9" name="TextBox 8"/>
          <p:cNvSpPr txBox="1"/>
          <p:nvPr/>
        </p:nvSpPr>
        <p:spPr>
          <a:xfrm>
            <a:off x="1143000" y="29260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ko_female</a:t>
            </a:r>
          </a:p>
        </p:txBody>
      </p:sp>
      <p:sp>
        <p:nvSpPr>
          <p:cNvPr id="10" name="TextBox 9"/>
          <p:cNvSpPr txBox="1"/>
          <p:nvPr/>
        </p:nvSpPr>
        <p:spPr>
          <a:xfrm>
            <a:off x="3017520" y="29260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한국어 · 여성</a:t>
            </a:r>
          </a:p>
        </p:txBody>
      </p:sp>
      <p:sp>
        <p:nvSpPr>
          <p:cNvPr id="11" name="TextBox 10"/>
          <p:cNvSpPr txBox="1"/>
          <p:nvPr/>
        </p:nvSpPr>
        <p:spPr>
          <a:xfrm>
            <a:off x="5394960" y="29260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SunHi</a:t>
            </a:r>
          </a:p>
        </p:txBody>
      </p:sp>
      <p:sp>
        <p:nvSpPr>
          <p:cNvPr id="12" name="TextBox 11"/>
          <p:cNvSpPr txBox="1"/>
          <p:nvPr/>
        </p:nvSpPr>
        <p:spPr>
          <a:xfrm>
            <a:off x="1143000" y="33832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ko_male</a:t>
            </a:r>
          </a:p>
        </p:txBody>
      </p:sp>
      <p:sp>
        <p:nvSpPr>
          <p:cNvPr id="13" name="TextBox 12"/>
          <p:cNvSpPr txBox="1"/>
          <p:nvPr/>
        </p:nvSpPr>
        <p:spPr>
          <a:xfrm>
            <a:off x="3017520" y="33832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한국어 · 남성</a:t>
            </a:r>
          </a:p>
        </p:txBody>
      </p:sp>
      <p:sp>
        <p:nvSpPr>
          <p:cNvPr id="14" name="TextBox 13"/>
          <p:cNvSpPr txBox="1"/>
          <p:nvPr/>
        </p:nvSpPr>
        <p:spPr>
          <a:xfrm>
            <a:off x="5394960" y="33832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Hyunsu</a:t>
            </a:r>
          </a:p>
        </p:txBody>
      </p:sp>
      <p:sp>
        <p:nvSpPr>
          <p:cNvPr id="15" name="TextBox 14"/>
          <p:cNvSpPr txBox="1"/>
          <p:nvPr/>
        </p:nvSpPr>
        <p:spPr>
          <a:xfrm>
            <a:off x="1143000" y="38404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en_female</a:t>
            </a:r>
          </a:p>
        </p:txBody>
      </p:sp>
      <p:sp>
        <p:nvSpPr>
          <p:cNvPr id="16" name="TextBox 15"/>
          <p:cNvSpPr txBox="1"/>
          <p:nvPr/>
        </p:nvSpPr>
        <p:spPr>
          <a:xfrm>
            <a:off x="3017520" y="38404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영어 · 여성</a:t>
            </a:r>
          </a:p>
        </p:txBody>
      </p:sp>
      <p:sp>
        <p:nvSpPr>
          <p:cNvPr id="17" name="TextBox 16"/>
          <p:cNvSpPr txBox="1"/>
          <p:nvPr/>
        </p:nvSpPr>
        <p:spPr>
          <a:xfrm>
            <a:off x="5394960" y="38404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Jenny</a:t>
            </a:r>
          </a:p>
        </p:txBody>
      </p:sp>
      <p:sp>
        <p:nvSpPr>
          <p:cNvPr id="18" name="TextBox 17"/>
          <p:cNvSpPr txBox="1"/>
          <p:nvPr/>
        </p:nvSpPr>
        <p:spPr>
          <a:xfrm>
            <a:off x="1143000" y="42976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en_male</a:t>
            </a:r>
          </a:p>
        </p:txBody>
      </p:sp>
      <p:sp>
        <p:nvSpPr>
          <p:cNvPr id="19" name="TextBox 18"/>
          <p:cNvSpPr txBox="1"/>
          <p:nvPr/>
        </p:nvSpPr>
        <p:spPr>
          <a:xfrm>
            <a:off x="3017520" y="42976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영어 · 남성</a:t>
            </a:r>
          </a:p>
        </p:txBody>
      </p:sp>
      <p:sp>
        <p:nvSpPr>
          <p:cNvPr id="20" name="TextBox 19"/>
          <p:cNvSpPr txBox="1"/>
          <p:nvPr/>
        </p:nvSpPr>
        <p:spPr>
          <a:xfrm>
            <a:off x="5394960" y="42976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Guy</a:t>
            </a:r>
          </a:p>
        </p:txBody>
      </p:sp>
      <p:sp>
        <p:nvSpPr>
          <p:cNvPr id="21" name="TextBox 20"/>
          <p:cNvSpPr txBox="1"/>
          <p:nvPr/>
        </p:nvSpPr>
        <p:spPr>
          <a:xfrm>
            <a:off x="1143000" y="47548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ja_male</a:t>
            </a:r>
          </a:p>
        </p:txBody>
      </p:sp>
      <p:sp>
        <p:nvSpPr>
          <p:cNvPr id="22" name="TextBox 21"/>
          <p:cNvSpPr txBox="1"/>
          <p:nvPr/>
        </p:nvSpPr>
        <p:spPr>
          <a:xfrm>
            <a:off x="3017520" y="47548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일본어 · 남성</a:t>
            </a:r>
          </a:p>
        </p:txBody>
      </p:sp>
      <p:sp>
        <p:nvSpPr>
          <p:cNvPr id="23" name="TextBox 22"/>
          <p:cNvSpPr txBox="1"/>
          <p:nvPr/>
        </p:nvSpPr>
        <p:spPr>
          <a:xfrm>
            <a:off x="5394960" y="47548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Keita</a:t>
            </a:r>
          </a:p>
        </p:txBody>
      </p:sp>
      <p:sp>
        <p:nvSpPr>
          <p:cNvPr id="24" name="TextBox 23"/>
          <p:cNvSpPr txBox="1"/>
          <p:nvPr/>
        </p:nvSpPr>
        <p:spPr>
          <a:xfrm>
            <a:off x="1143000" y="5212080"/>
            <a:ext cx="1737360" cy="274320"/>
          </a:xfrm>
          <a:prstGeom prst="rect">
            <a:avLst/>
          </a:prstGeom>
          <a:noFill/>
        </p:spPr>
        <p:txBody>
          <a:bodyPr wrap="square" anchor="t" lIns="0" rIns="0" tIns="0" bIns="0">
            <a:spAutoFit/>
          </a:bodyPr>
          <a:lstStyle/>
          <a:p>
            <a:pPr algn="l">
              <a:spcAft>
                <a:spcPts val="0"/>
              </a:spcAft>
              <a:defRPr sz="1250" b="0" i="0">
                <a:solidFill>
                  <a:srgbClr val="7CA9F0"/>
                </a:solidFill>
              </a:defRPr>
            </a:pPr>
            <a:r>
              <a:t>zh_male</a:t>
            </a:r>
          </a:p>
        </p:txBody>
      </p:sp>
      <p:sp>
        <p:nvSpPr>
          <p:cNvPr id="25" name="TextBox 24"/>
          <p:cNvSpPr txBox="1"/>
          <p:nvPr/>
        </p:nvSpPr>
        <p:spPr>
          <a:xfrm>
            <a:off x="3017520" y="5212080"/>
            <a:ext cx="2377440" cy="274320"/>
          </a:xfrm>
          <a:prstGeom prst="rect">
            <a:avLst/>
          </a:prstGeom>
          <a:noFill/>
        </p:spPr>
        <p:txBody>
          <a:bodyPr wrap="square" anchor="t" lIns="0" rIns="0" tIns="0" bIns="0">
            <a:spAutoFit/>
          </a:bodyPr>
          <a:lstStyle/>
          <a:p>
            <a:pPr algn="l">
              <a:spcAft>
                <a:spcPts val="0"/>
              </a:spcAft>
              <a:defRPr sz="1250" b="0" i="0">
                <a:solidFill>
                  <a:srgbClr val="F2F5FA"/>
                </a:solidFill>
              </a:defRPr>
            </a:pPr>
            <a:r>
              <a:t>중국어 · 남성</a:t>
            </a:r>
          </a:p>
        </p:txBody>
      </p:sp>
      <p:sp>
        <p:nvSpPr>
          <p:cNvPr id="26" name="TextBox 25"/>
          <p:cNvSpPr txBox="1"/>
          <p:nvPr/>
        </p:nvSpPr>
        <p:spPr>
          <a:xfrm>
            <a:off x="5394960" y="5212080"/>
            <a:ext cx="1463040" cy="274320"/>
          </a:xfrm>
          <a:prstGeom prst="rect">
            <a:avLst/>
          </a:prstGeom>
          <a:noFill/>
        </p:spPr>
        <p:txBody>
          <a:bodyPr wrap="square" anchor="t" lIns="0" rIns="0" tIns="0" bIns="0">
            <a:spAutoFit/>
          </a:bodyPr>
          <a:lstStyle/>
          <a:p>
            <a:pPr algn="l">
              <a:spcAft>
                <a:spcPts val="0"/>
              </a:spcAft>
              <a:defRPr sz="1250" b="0" i="0">
                <a:solidFill>
                  <a:srgbClr val="9AA6BD"/>
                </a:solidFill>
              </a:defRPr>
            </a:pPr>
            <a:r>
              <a:t>Yunxi</a:t>
            </a:r>
          </a:p>
        </p:txBody>
      </p:sp>
      <p:sp>
        <p:nvSpPr>
          <p:cNvPr id="27" name="Rounded Rectangle 26"/>
          <p:cNvSpPr/>
          <p:nvPr/>
        </p:nvSpPr>
        <p:spPr>
          <a:xfrm>
            <a:off x="7434072" y="2194560"/>
            <a:ext cx="3931920" cy="356616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54112" y="2450592"/>
            <a:ext cx="3291840" cy="320040"/>
          </a:xfrm>
          <a:prstGeom prst="rect">
            <a:avLst/>
          </a:prstGeom>
          <a:noFill/>
        </p:spPr>
        <p:txBody>
          <a:bodyPr wrap="square" anchor="t" lIns="0" rIns="0" tIns="0" bIns="0">
            <a:spAutoFit/>
          </a:bodyPr>
          <a:lstStyle/>
          <a:p>
            <a:pPr algn="l">
              <a:spcAft>
                <a:spcPts val="0"/>
              </a:spcAft>
              <a:defRPr sz="1700" b="1" i="0">
                <a:solidFill>
                  <a:srgbClr val="F2F5FA"/>
                </a:solidFill>
              </a:defRPr>
            </a:pPr>
            <a:r>
              <a:t>화면 전환 여백</a:t>
            </a:r>
          </a:p>
        </p:txBody>
      </p:sp>
      <p:sp>
        <p:nvSpPr>
          <p:cNvPr id="29" name="TextBox 28"/>
          <p:cNvSpPr txBox="1"/>
          <p:nvPr/>
        </p:nvSpPr>
        <p:spPr>
          <a:xfrm>
            <a:off x="7754112" y="2926080"/>
            <a:ext cx="3291840" cy="822960"/>
          </a:xfrm>
          <a:prstGeom prst="rect">
            <a:avLst/>
          </a:prstGeom>
          <a:noFill/>
        </p:spPr>
        <p:txBody>
          <a:bodyPr wrap="square" anchor="t" lIns="0" rIns="0" tIns="0" bIns="0">
            <a:spAutoFit/>
          </a:bodyPr>
          <a:lstStyle/>
          <a:p>
            <a:pPr algn="l">
              <a:spcAft>
                <a:spcPts val="300"/>
              </a:spcAft>
              <a:defRPr sz="1250" b="0" i="0">
                <a:solidFill>
                  <a:srgbClr val="9AA6BD"/>
                </a:solidFill>
              </a:defRPr>
            </a:pPr>
            <a:r>
              <a:t>슬라이드가 바뀐 뒤</a:t>
            </a:r>
          </a:p>
          <a:p>
            <a:pPr algn="l">
              <a:spcAft>
                <a:spcPts val="300"/>
              </a:spcAft>
              <a:defRPr sz="1250" b="0" i="0">
                <a:solidFill>
                  <a:srgbClr val="9AA6BD"/>
                </a:solidFill>
              </a:defRPr>
            </a:pPr>
            <a:r>
              <a:t>나레이션이 시작되기까지의</a:t>
            </a:r>
          </a:p>
          <a:p>
            <a:pPr algn="l">
              <a:spcAft>
                <a:spcPts val="300"/>
              </a:spcAft>
              <a:defRPr sz="1250" b="0" i="0">
                <a:solidFill>
                  <a:srgbClr val="9AA6BD"/>
                </a:solidFill>
              </a:defRPr>
            </a:pPr>
            <a:r>
              <a:t>정적 시간</a:t>
            </a:r>
          </a:p>
        </p:txBody>
      </p:sp>
      <p:sp>
        <p:nvSpPr>
          <p:cNvPr id="30" name="Rounded Rectangle 29"/>
          <p:cNvSpPr/>
          <p:nvPr/>
        </p:nvSpPr>
        <p:spPr>
          <a:xfrm>
            <a:off x="7754112" y="3886200"/>
            <a:ext cx="3291840" cy="77724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54112" y="4069080"/>
            <a:ext cx="3291840" cy="411480"/>
          </a:xfrm>
          <a:prstGeom prst="rect">
            <a:avLst/>
          </a:prstGeom>
          <a:noFill/>
        </p:spPr>
        <p:txBody>
          <a:bodyPr wrap="square" anchor="t" lIns="0" rIns="0" tIns="0" bIns="0">
            <a:spAutoFit/>
          </a:bodyPr>
          <a:lstStyle/>
          <a:p>
            <a:pPr algn="ctr">
              <a:spcAft>
                <a:spcPts val="0"/>
              </a:spcAft>
              <a:defRPr sz="2400" b="1" i="0">
                <a:solidFill>
                  <a:srgbClr val="66D9A0"/>
                </a:solidFill>
              </a:defRPr>
            </a:pPr>
            <a:r>
              <a:t>1.5초</a:t>
            </a:r>
          </a:p>
        </p:txBody>
      </p:sp>
      <p:sp>
        <p:nvSpPr>
          <p:cNvPr id="32" name="TextBox 31"/>
          <p:cNvSpPr txBox="1"/>
          <p:nvPr/>
        </p:nvSpPr>
        <p:spPr>
          <a:xfrm>
            <a:off x="7754112" y="4800600"/>
            <a:ext cx="3291840" cy="731520"/>
          </a:xfrm>
          <a:prstGeom prst="rect">
            <a:avLst/>
          </a:prstGeom>
          <a:noFill/>
        </p:spPr>
        <p:txBody>
          <a:bodyPr wrap="square" anchor="t" lIns="0" rIns="0" tIns="0" bIns="0">
            <a:spAutoFit/>
          </a:bodyPr>
          <a:lstStyle/>
          <a:p>
            <a:pPr algn="l">
              <a:spcAft>
                <a:spcPts val="300"/>
              </a:spcAft>
              <a:defRPr sz="1200" b="0" i="0">
                <a:solidFill>
                  <a:srgbClr val="9AA6BD"/>
                </a:solidFill>
              </a:defRPr>
            </a:pPr>
            <a:r>
              <a:t>허용 범위 0 ~ 10초</a:t>
            </a:r>
          </a:p>
          <a:p>
            <a:pPr algn="l">
              <a:spcAft>
                <a:spcPts val="300"/>
              </a:spcAft>
              <a:defRPr sz="1200" b="0" i="0">
                <a:solidFill>
                  <a:srgbClr val="9AA6BD"/>
                </a:solidFill>
              </a:defRPr>
            </a:pPr>
            <a:r>
              <a:t>자막 타임코드에도</a:t>
            </a:r>
          </a:p>
          <a:p>
            <a:pPr algn="l">
              <a:spcAft>
                <a:spcPts val="300"/>
              </a:spcAft>
              <a:defRPr sz="1200" b="0" i="0">
                <a:solidFill>
                  <a:srgbClr val="9AA6BD"/>
                </a:solidFill>
              </a:defRPr>
            </a:pPr>
            <a:r>
              <a:t>동일하게 반영됩니다</a:t>
            </a:r>
          </a:p>
        </p:txBody>
      </p:sp>
      <p:sp>
        <p:nvSpPr>
          <p:cNvPr id="33" name="TextBox 32"/>
          <p:cNvSpPr txBox="1"/>
          <p:nvPr/>
        </p:nvSpPr>
        <p:spPr>
          <a:xfrm>
            <a:off x="822960" y="5833872"/>
            <a:ext cx="10515600" cy="320040"/>
          </a:xfrm>
          <a:prstGeom prst="rect">
            <a:avLst/>
          </a:prstGeom>
          <a:noFill/>
        </p:spPr>
        <p:txBody>
          <a:bodyPr wrap="square" anchor="t" lIns="0" rIns="0" tIns="0" bIns="0">
            <a:spAutoFit/>
          </a:bodyPr>
          <a:lstStyle/>
          <a:p>
            <a:pPr algn="l">
              <a:spcAft>
                <a:spcPts val="0"/>
              </a:spcAft>
              <a:defRPr sz="1250" b="0" i="0">
                <a:solidFill>
                  <a:srgbClr val="9AA6BD"/>
                </a:solidFill>
              </a:defRPr>
            </a:pPr>
            <a:r>
              <a:t>설정을 바꾸면 같은 PPTX로도 다른 결과물을 만들 수 있습니다. 언어별 대본은 노트를 바꿔 다시 업로드하세요.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OUTPUT</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산출물 — MP4와 SRT</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10</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240280"/>
            <a:ext cx="5257800" cy="3200400"/>
          </a:xfrm>
          <a:prstGeom prst="roundRect">
            <a:avLst>
              <a:gd name="adj" fmla="val 4000"/>
            </a:avLst>
          </a:prstGeom>
          <a:solidFill>
            <a:srgbClr val="1B202E"/>
          </a:solidFill>
          <a:ln w="15875">
            <a:solidFill>
              <a:srgbClr val="66D9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2514600"/>
            <a:ext cx="4572000" cy="365760"/>
          </a:xfrm>
          <a:prstGeom prst="rect">
            <a:avLst/>
          </a:prstGeom>
          <a:noFill/>
        </p:spPr>
        <p:txBody>
          <a:bodyPr wrap="square" anchor="t" lIns="0" rIns="0" tIns="0" bIns="0">
            <a:spAutoFit/>
          </a:bodyPr>
          <a:lstStyle/>
          <a:p>
            <a:pPr algn="l">
              <a:spcAft>
                <a:spcPts val="0"/>
              </a:spcAft>
              <a:defRPr sz="1900" b="1" i="0">
                <a:solidFill>
                  <a:srgbClr val="66D9A0"/>
                </a:solidFill>
              </a:defRPr>
            </a:pPr>
            <a:r>
              <a:t>final_{job_id}.mp4</a:t>
            </a:r>
          </a:p>
        </p:txBody>
      </p:sp>
      <p:sp>
        <p:nvSpPr>
          <p:cNvPr id="9" name="TextBox 8"/>
          <p:cNvSpPr txBox="1"/>
          <p:nvPr/>
        </p:nvSpPr>
        <p:spPr>
          <a:xfrm>
            <a:off x="1143000" y="3108960"/>
            <a:ext cx="1371600" cy="274320"/>
          </a:xfrm>
          <a:prstGeom prst="rect">
            <a:avLst/>
          </a:prstGeom>
          <a:noFill/>
        </p:spPr>
        <p:txBody>
          <a:bodyPr wrap="square" anchor="t" lIns="0" rIns="0" tIns="0" bIns="0">
            <a:spAutoFit/>
          </a:bodyPr>
          <a:lstStyle/>
          <a:p>
            <a:pPr algn="l">
              <a:spcAft>
                <a:spcPts val="0"/>
              </a:spcAft>
              <a:defRPr sz="1200" b="0" i="0">
                <a:solidFill>
                  <a:srgbClr val="9AA6BD"/>
                </a:solidFill>
              </a:defRPr>
            </a:pPr>
            <a:r>
              <a:t>해상도</a:t>
            </a:r>
          </a:p>
        </p:txBody>
      </p:sp>
      <p:sp>
        <p:nvSpPr>
          <p:cNvPr id="10" name="TextBox 9"/>
          <p:cNvSpPr txBox="1"/>
          <p:nvPr/>
        </p:nvSpPr>
        <p:spPr>
          <a:xfrm>
            <a:off x="2606040" y="3108960"/>
            <a:ext cx="3291840" cy="274320"/>
          </a:xfrm>
          <a:prstGeom prst="rect">
            <a:avLst/>
          </a:prstGeom>
          <a:noFill/>
        </p:spPr>
        <p:txBody>
          <a:bodyPr wrap="square" anchor="t" lIns="0" rIns="0" tIns="0" bIns="0">
            <a:spAutoFit/>
          </a:bodyPr>
          <a:lstStyle/>
          <a:p>
            <a:pPr algn="l">
              <a:spcAft>
                <a:spcPts val="0"/>
              </a:spcAft>
              <a:defRPr sz="1250" b="0" i="0">
                <a:solidFill>
                  <a:srgbClr val="F2F5FA"/>
                </a:solidFill>
              </a:defRPr>
            </a:pPr>
            <a:r>
              <a:t>1920 × 1080 (Full HD)</a:t>
            </a:r>
          </a:p>
        </p:txBody>
      </p:sp>
      <p:sp>
        <p:nvSpPr>
          <p:cNvPr id="11" name="TextBox 10"/>
          <p:cNvSpPr txBox="1"/>
          <p:nvPr/>
        </p:nvSpPr>
        <p:spPr>
          <a:xfrm>
            <a:off x="1143000" y="3547872"/>
            <a:ext cx="1371600" cy="274320"/>
          </a:xfrm>
          <a:prstGeom prst="rect">
            <a:avLst/>
          </a:prstGeom>
          <a:noFill/>
        </p:spPr>
        <p:txBody>
          <a:bodyPr wrap="square" anchor="t" lIns="0" rIns="0" tIns="0" bIns="0">
            <a:spAutoFit/>
          </a:bodyPr>
          <a:lstStyle/>
          <a:p>
            <a:pPr algn="l">
              <a:spcAft>
                <a:spcPts val="0"/>
              </a:spcAft>
              <a:defRPr sz="1200" b="0" i="0">
                <a:solidFill>
                  <a:srgbClr val="9AA6BD"/>
                </a:solidFill>
              </a:defRPr>
            </a:pPr>
            <a:r>
              <a:t>프레임</a:t>
            </a:r>
          </a:p>
        </p:txBody>
      </p:sp>
      <p:sp>
        <p:nvSpPr>
          <p:cNvPr id="12" name="TextBox 11"/>
          <p:cNvSpPr txBox="1"/>
          <p:nvPr/>
        </p:nvSpPr>
        <p:spPr>
          <a:xfrm>
            <a:off x="2606040" y="3547872"/>
            <a:ext cx="3291840" cy="274320"/>
          </a:xfrm>
          <a:prstGeom prst="rect">
            <a:avLst/>
          </a:prstGeom>
          <a:noFill/>
        </p:spPr>
        <p:txBody>
          <a:bodyPr wrap="square" anchor="t" lIns="0" rIns="0" tIns="0" bIns="0">
            <a:spAutoFit/>
          </a:bodyPr>
          <a:lstStyle/>
          <a:p>
            <a:pPr algn="l">
              <a:spcAft>
                <a:spcPts val="0"/>
              </a:spcAft>
              <a:defRPr sz="1250" b="0" i="0">
                <a:solidFill>
                  <a:srgbClr val="F2F5FA"/>
                </a:solidFill>
              </a:defRPr>
            </a:pPr>
            <a:r>
              <a:t>30 fps</a:t>
            </a:r>
          </a:p>
        </p:txBody>
      </p:sp>
      <p:sp>
        <p:nvSpPr>
          <p:cNvPr id="13" name="TextBox 12"/>
          <p:cNvSpPr txBox="1"/>
          <p:nvPr/>
        </p:nvSpPr>
        <p:spPr>
          <a:xfrm>
            <a:off x="1143000" y="3986783"/>
            <a:ext cx="1371600" cy="274320"/>
          </a:xfrm>
          <a:prstGeom prst="rect">
            <a:avLst/>
          </a:prstGeom>
          <a:noFill/>
        </p:spPr>
        <p:txBody>
          <a:bodyPr wrap="square" anchor="t" lIns="0" rIns="0" tIns="0" bIns="0">
            <a:spAutoFit/>
          </a:bodyPr>
          <a:lstStyle/>
          <a:p>
            <a:pPr algn="l">
              <a:spcAft>
                <a:spcPts val="0"/>
              </a:spcAft>
              <a:defRPr sz="1200" b="0" i="0">
                <a:solidFill>
                  <a:srgbClr val="9AA6BD"/>
                </a:solidFill>
              </a:defRPr>
            </a:pPr>
            <a:r>
              <a:t>비디오</a:t>
            </a:r>
          </a:p>
        </p:txBody>
      </p:sp>
      <p:sp>
        <p:nvSpPr>
          <p:cNvPr id="14" name="TextBox 13"/>
          <p:cNvSpPr txBox="1"/>
          <p:nvPr/>
        </p:nvSpPr>
        <p:spPr>
          <a:xfrm>
            <a:off x="2606040" y="3986783"/>
            <a:ext cx="3291840" cy="274320"/>
          </a:xfrm>
          <a:prstGeom prst="rect">
            <a:avLst/>
          </a:prstGeom>
          <a:noFill/>
        </p:spPr>
        <p:txBody>
          <a:bodyPr wrap="square" anchor="t" lIns="0" rIns="0" tIns="0" bIns="0">
            <a:spAutoFit/>
          </a:bodyPr>
          <a:lstStyle/>
          <a:p>
            <a:pPr algn="l">
              <a:spcAft>
                <a:spcPts val="0"/>
              </a:spcAft>
              <a:defRPr sz="1250" b="0" i="0">
                <a:solidFill>
                  <a:srgbClr val="F2F5FA"/>
                </a:solidFill>
              </a:defRPr>
            </a:pPr>
            <a:r>
              <a:t>H.264 / CRF 18</a:t>
            </a:r>
          </a:p>
        </p:txBody>
      </p:sp>
      <p:sp>
        <p:nvSpPr>
          <p:cNvPr id="15" name="TextBox 14"/>
          <p:cNvSpPr txBox="1"/>
          <p:nvPr/>
        </p:nvSpPr>
        <p:spPr>
          <a:xfrm>
            <a:off x="1143000" y="4425696"/>
            <a:ext cx="1371600" cy="274320"/>
          </a:xfrm>
          <a:prstGeom prst="rect">
            <a:avLst/>
          </a:prstGeom>
          <a:noFill/>
        </p:spPr>
        <p:txBody>
          <a:bodyPr wrap="square" anchor="t" lIns="0" rIns="0" tIns="0" bIns="0">
            <a:spAutoFit/>
          </a:bodyPr>
          <a:lstStyle/>
          <a:p>
            <a:pPr algn="l">
              <a:spcAft>
                <a:spcPts val="0"/>
              </a:spcAft>
              <a:defRPr sz="1200" b="0" i="0">
                <a:solidFill>
                  <a:srgbClr val="9AA6BD"/>
                </a:solidFill>
              </a:defRPr>
            </a:pPr>
            <a:r>
              <a:t>오디오</a:t>
            </a:r>
          </a:p>
        </p:txBody>
      </p:sp>
      <p:sp>
        <p:nvSpPr>
          <p:cNvPr id="16" name="TextBox 15"/>
          <p:cNvSpPr txBox="1"/>
          <p:nvPr/>
        </p:nvSpPr>
        <p:spPr>
          <a:xfrm>
            <a:off x="2606040" y="4425696"/>
            <a:ext cx="3291840" cy="274320"/>
          </a:xfrm>
          <a:prstGeom prst="rect">
            <a:avLst/>
          </a:prstGeom>
          <a:noFill/>
        </p:spPr>
        <p:txBody>
          <a:bodyPr wrap="square" anchor="t" lIns="0" rIns="0" tIns="0" bIns="0">
            <a:spAutoFit/>
          </a:bodyPr>
          <a:lstStyle/>
          <a:p>
            <a:pPr algn="l">
              <a:spcAft>
                <a:spcPts val="0"/>
              </a:spcAft>
              <a:defRPr sz="1250" b="0" i="0">
                <a:solidFill>
                  <a:srgbClr val="F2F5FA"/>
                </a:solidFill>
              </a:defRPr>
            </a:pPr>
            <a:r>
              <a:t>AAC 192kbps · 48kHz 스테레오</a:t>
            </a:r>
          </a:p>
        </p:txBody>
      </p:sp>
      <p:sp>
        <p:nvSpPr>
          <p:cNvPr id="17" name="TextBox 16"/>
          <p:cNvSpPr txBox="1"/>
          <p:nvPr/>
        </p:nvSpPr>
        <p:spPr>
          <a:xfrm>
            <a:off x="1143000" y="4864608"/>
            <a:ext cx="1371600" cy="274320"/>
          </a:xfrm>
          <a:prstGeom prst="rect">
            <a:avLst/>
          </a:prstGeom>
          <a:noFill/>
        </p:spPr>
        <p:txBody>
          <a:bodyPr wrap="square" anchor="t" lIns="0" rIns="0" tIns="0" bIns="0">
            <a:spAutoFit/>
          </a:bodyPr>
          <a:lstStyle/>
          <a:p>
            <a:pPr algn="l">
              <a:spcAft>
                <a:spcPts val="0"/>
              </a:spcAft>
              <a:defRPr sz="1200" b="0" i="0">
                <a:solidFill>
                  <a:srgbClr val="9AA6BD"/>
                </a:solidFill>
              </a:defRPr>
            </a:pPr>
            <a:r>
              <a:t>길이</a:t>
            </a:r>
          </a:p>
        </p:txBody>
      </p:sp>
      <p:sp>
        <p:nvSpPr>
          <p:cNvPr id="18" name="TextBox 17"/>
          <p:cNvSpPr txBox="1"/>
          <p:nvPr/>
        </p:nvSpPr>
        <p:spPr>
          <a:xfrm>
            <a:off x="2606040" y="4864608"/>
            <a:ext cx="3291840" cy="274320"/>
          </a:xfrm>
          <a:prstGeom prst="rect">
            <a:avLst/>
          </a:prstGeom>
          <a:noFill/>
        </p:spPr>
        <p:txBody>
          <a:bodyPr wrap="square" anchor="t" lIns="0" rIns="0" tIns="0" bIns="0">
            <a:spAutoFit/>
          </a:bodyPr>
          <a:lstStyle/>
          <a:p>
            <a:pPr algn="l">
              <a:spcAft>
                <a:spcPts val="0"/>
              </a:spcAft>
              <a:defRPr sz="1250" b="0" i="0">
                <a:solidFill>
                  <a:srgbClr val="F2F5FA"/>
                </a:solidFill>
              </a:defRPr>
            </a:pPr>
            <a:r>
              <a:t>각 슬라이드 = 음성 길이 + 전환 여백</a:t>
            </a:r>
          </a:p>
        </p:txBody>
      </p:sp>
      <p:sp>
        <p:nvSpPr>
          <p:cNvPr id="19" name="Rounded Rectangle 18"/>
          <p:cNvSpPr/>
          <p:nvPr/>
        </p:nvSpPr>
        <p:spPr>
          <a:xfrm>
            <a:off x="6400800" y="2240280"/>
            <a:ext cx="4965192" cy="3200400"/>
          </a:xfrm>
          <a:prstGeom prst="roundRect">
            <a:avLst>
              <a:gd name="adj" fmla="val 4000"/>
            </a:avLst>
          </a:prstGeom>
          <a:solidFill>
            <a:srgbClr val="1B202E"/>
          </a:solidFill>
          <a:ln w="15875">
            <a:solidFill>
              <a:srgbClr val="F2C0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20840" y="2514600"/>
            <a:ext cx="4572000" cy="365760"/>
          </a:xfrm>
          <a:prstGeom prst="rect">
            <a:avLst/>
          </a:prstGeom>
          <a:noFill/>
        </p:spPr>
        <p:txBody>
          <a:bodyPr wrap="square" anchor="t" lIns="0" rIns="0" tIns="0" bIns="0">
            <a:spAutoFit/>
          </a:bodyPr>
          <a:lstStyle/>
          <a:p>
            <a:pPr algn="l">
              <a:spcAft>
                <a:spcPts val="0"/>
              </a:spcAft>
              <a:defRPr sz="1900" b="1" i="0">
                <a:solidFill>
                  <a:srgbClr val="F2C05C"/>
                </a:solidFill>
              </a:defRPr>
            </a:pPr>
            <a:r>
              <a:t>subtitles_{job_id}.srt</a:t>
            </a:r>
          </a:p>
        </p:txBody>
      </p:sp>
      <p:sp>
        <p:nvSpPr>
          <p:cNvPr id="21" name="TextBox 20"/>
          <p:cNvSpPr txBox="1"/>
          <p:nvPr/>
        </p:nvSpPr>
        <p:spPr>
          <a:xfrm>
            <a:off x="6720840" y="3108960"/>
            <a:ext cx="4389120" cy="548640"/>
          </a:xfrm>
          <a:prstGeom prst="rect">
            <a:avLst/>
          </a:prstGeom>
          <a:noFill/>
        </p:spPr>
        <p:txBody>
          <a:bodyPr wrap="square" anchor="t" lIns="0" rIns="0" tIns="0" bIns="0">
            <a:spAutoFit/>
          </a:bodyPr>
          <a:lstStyle/>
          <a:p>
            <a:pPr algn="l">
              <a:spcAft>
                <a:spcPts val="300"/>
              </a:spcAft>
              <a:defRPr sz="1250" b="0" i="0">
                <a:solidFill>
                  <a:srgbClr val="9AA6BD"/>
                </a:solidFill>
              </a:defRPr>
            </a:pPr>
            <a:r>
              <a:t>슬라이드별 음성 길이를 누적해</a:t>
            </a:r>
          </a:p>
          <a:p>
            <a:pPr algn="l">
              <a:spcAft>
                <a:spcPts val="300"/>
              </a:spcAft>
              <a:defRPr sz="1250" b="0" i="0">
                <a:solidFill>
                  <a:srgbClr val="9AA6BD"/>
                </a:solidFill>
              </a:defRPr>
            </a:pPr>
            <a:r>
              <a:t>타임코드를 계산 — 영상과 정확히 일치</a:t>
            </a:r>
          </a:p>
        </p:txBody>
      </p:sp>
      <p:sp>
        <p:nvSpPr>
          <p:cNvPr id="22" name="Rounded Rectangle 21"/>
          <p:cNvSpPr/>
          <p:nvPr/>
        </p:nvSpPr>
        <p:spPr>
          <a:xfrm>
            <a:off x="6720840" y="3840480"/>
            <a:ext cx="4343400" cy="1225295"/>
          </a:xfrm>
          <a:prstGeom prst="roundRect">
            <a:avLst>
              <a:gd name="adj" fmla="val 4000"/>
            </a:avLst>
          </a:prstGeom>
          <a:solidFill>
            <a:srgbClr val="0B0E16"/>
          </a:solidFill>
          <a:ln w="15875">
            <a:solidFill>
              <a:srgbClr val="2A33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58583" y="4023360"/>
            <a:ext cx="3886200" cy="859535"/>
          </a:xfrm>
          <a:prstGeom prst="rect">
            <a:avLst/>
          </a:prstGeom>
          <a:noFill/>
        </p:spPr>
        <p:txBody>
          <a:bodyPr wrap="square">
            <a:spAutoFit/>
          </a:bodyPr>
          <a:lstStyle/>
          <a:p>
            <a:pPr>
              <a:spcAft>
                <a:spcPts val="300"/>
              </a:spcAft>
              <a:defRPr sz="1100">
                <a:solidFill>
                  <a:srgbClr val="9AA6BD"/>
                </a:solidFill>
                <a:latin typeface="Menlo"/>
              </a:defRPr>
            </a:pPr>
            <a:r>
              <a:t>1</a:t>
            </a:r>
          </a:p>
          <a:p>
            <a:pPr>
              <a:spcAft>
                <a:spcPts val="300"/>
              </a:spcAft>
              <a:defRPr sz="1100">
                <a:solidFill>
                  <a:srgbClr val="9AA6BD"/>
                </a:solidFill>
                <a:latin typeface="Menlo"/>
              </a:defRPr>
            </a:pPr>
            <a:r>
              <a:t>00:00:01,500 --&gt; 00:00:16,548</a:t>
            </a:r>
          </a:p>
          <a:p>
            <a:pPr>
              <a:spcAft>
                <a:spcPts val="300"/>
              </a:spcAft>
              <a:defRPr sz="1100">
                <a:solidFill>
                  <a:srgbClr val="9AA6BD"/>
                </a:solidFill>
                <a:latin typeface="Menlo"/>
              </a:defRPr>
            </a:pPr>
            <a:r>
              <a:t>안녕하세요. 슬라이드캐스트...</a:t>
            </a:r>
          </a:p>
        </p:txBody>
      </p:sp>
      <p:sp>
        <p:nvSpPr>
          <p:cNvPr id="24" name="TextBox 23"/>
          <p:cNvSpPr txBox="1"/>
          <p:nvPr/>
        </p:nvSpPr>
        <p:spPr>
          <a:xfrm>
            <a:off x="6720840" y="5029200"/>
            <a:ext cx="4389120" cy="365760"/>
          </a:xfrm>
          <a:prstGeom prst="rect">
            <a:avLst/>
          </a:prstGeom>
          <a:noFill/>
        </p:spPr>
        <p:txBody>
          <a:bodyPr wrap="square" anchor="t" lIns="0" rIns="0" tIns="0" bIns="0">
            <a:spAutoFit/>
          </a:bodyPr>
          <a:lstStyle/>
          <a:p>
            <a:pPr algn="l">
              <a:spcAft>
                <a:spcPts val="0"/>
              </a:spcAft>
              <a:defRPr sz="1150" b="0" i="0">
                <a:solidFill>
                  <a:srgbClr val="9AA6BD"/>
                </a:solidFill>
              </a:defRPr>
            </a:pPr>
            <a:r>
              <a:t>대본이 없는 슬라이드는 자막에서도 제외</a:t>
            </a:r>
          </a:p>
        </p:txBody>
      </p:sp>
      <p:sp>
        <p:nvSpPr>
          <p:cNvPr id="25" name="Rounded Rectangle 24"/>
          <p:cNvSpPr/>
          <p:nvPr/>
        </p:nvSpPr>
        <p:spPr>
          <a:xfrm>
            <a:off x="822960" y="5614416"/>
            <a:ext cx="10543032" cy="457200"/>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43000" y="5715000"/>
            <a:ext cx="10058400" cy="365760"/>
          </a:xfrm>
          <a:prstGeom prst="rect">
            <a:avLst/>
          </a:prstGeom>
          <a:noFill/>
        </p:spPr>
        <p:txBody>
          <a:bodyPr wrap="square" anchor="t" lIns="0" rIns="0" tIns="0" bIns="0">
            <a:spAutoFit/>
          </a:bodyPr>
          <a:lstStyle/>
          <a:p>
            <a:pPr algn="l">
              <a:spcAft>
                <a:spcPts val="0"/>
              </a:spcAft>
              <a:defRPr sz="1200" b="0" i="0">
                <a:solidFill>
                  <a:srgbClr val="F2F5FA"/>
                </a:solidFill>
              </a:defRPr>
            </a:pPr>
            <a:r>
              <a:t>영상은 완료 화면의 다운로드 버튼으로, 자막은 작업 폴더에서 함께 받을 수 있습니다.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TROUBLESHOOTING</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이런 증상이 나오면</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11</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TextBox 6"/>
          <p:cNvSpPr txBox="1"/>
          <p:nvPr/>
        </p:nvSpPr>
        <p:spPr>
          <a:xfrm>
            <a:off x="1097280" y="2103120"/>
            <a:ext cx="3657600" cy="274320"/>
          </a:xfrm>
          <a:prstGeom prst="rect">
            <a:avLst/>
          </a:prstGeom>
          <a:noFill/>
        </p:spPr>
        <p:txBody>
          <a:bodyPr wrap="square" anchor="t" lIns="0" rIns="0" tIns="0" bIns="0">
            <a:spAutoFit/>
          </a:bodyPr>
          <a:lstStyle/>
          <a:p>
            <a:pPr algn="l">
              <a:spcAft>
                <a:spcPts val="0"/>
              </a:spcAft>
              <a:defRPr sz="1200" b="1" i="0">
                <a:solidFill>
                  <a:srgbClr val="5E6A82"/>
                </a:solidFill>
              </a:defRPr>
            </a:pPr>
            <a:r>
              <a:t>증상</a:t>
            </a:r>
          </a:p>
        </p:txBody>
      </p:sp>
      <p:sp>
        <p:nvSpPr>
          <p:cNvPr id="8" name="TextBox 7"/>
          <p:cNvSpPr txBox="1"/>
          <p:nvPr/>
        </p:nvSpPr>
        <p:spPr>
          <a:xfrm>
            <a:off x="4846320" y="2103120"/>
            <a:ext cx="3383280" cy="274320"/>
          </a:xfrm>
          <a:prstGeom prst="rect">
            <a:avLst/>
          </a:prstGeom>
          <a:noFill/>
        </p:spPr>
        <p:txBody>
          <a:bodyPr wrap="square" anchor="t" lIns="0" rIns="0" tIns="0" bIns="0">
            <a:spAutoFit/>
          </a:bodyPr>
          <a:lstStyle/>
          <a:p>
            <a:pPr algn="l">
              <a:spcAft>
                <a:spcPts val="0"/>
              </a:spcAft>
              <a:defRPr sz="1200" b="1" i="0">
                <a:solidFill>
                  <a:srgbClr val="5E6A82"/>
                </a:solidFill>
              </a:defRPr>
            </a:pPr>
            <a:r>
              <a:t>원인</a:t>
            </a:r>
          </a:p>
        </p:txBody>
      </p:sp>
      <p:sp>
        <p:nvSpPr>
          <p:cNvPr id="9" name="TextBox 8"/>
          <p:cNvSpPr txBox="1"/>
          <p:nvPr/>
        </p:nvSpPr>
        <p:spPr>
          <a:xfrm>
            <a:off x="8412480" y="2103120"/>
            <a:ext cx="2926080" cy="274320"/>
          </a:xfrm>
          <a:prstGeom prst="rect">
            <a:avLst/>
          </a:prstGeom>
          <a:noFill/>
        </p:spPr>
        <p:txBody>
          <a:bodyPr wrap="square" anchor="t" lIns="0" rIns="0" tIns="0" bIns="0">
            <a:spAutoFit/>
          </a:bodyPr>
          <a:lstStyle/>
          <a:p>
            <a:pPr algn="l">
              <a:spcAft>
                <a:spcPts val="0"/>
              </a:spcAft>
              <a:defRPr sz="1200" b="1" i="0">
                <a:solidFill>
                  <a:srgbClr val="5E6A82"/>
                </a:solidFill>
              </a:defRPr>
            </a:pPr>
            <a:r>
              <a:t>조치</a:t>
            </a:r>
          </a:p>
        </p:txBody>
      </p:sp>
      <p:sp>
        <p:nvSpPr>
          <p:cNvPr id="10" name="Rounded Rectangle 9"/>
          <p:cNvSpPr/>
          <p:nvPr/>
        </p:nvSpPr>
        <p:spPr>
          <a:xfrm>
            <a:off x="822960" y="2450592"/>
            <a:ext cx="10543032" cy="6583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22960" y="2578608"/>
            <a:ext cx="41148" cy="402336"/>
          </a:xfrm>
          <a:prstGeom prst="rect">
            <a:avLst/>
          </a:prstGeom>
          <a:solidFill>
            <a:srgbClr val="F28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670048"/>
            <a:ext cx="3657600" cy="292608"/>
          </a:xfrm>
          <a:prstGeom prst="rect">
            <a:avLst/>
          </a:prstGeom>
          <a:noFill/>
        </p:spPr>
        <p:txBody>
          <a:bodyPr wrap="square" anchor="t" lIns="0" rIns="0" tIns="0" bIns="0">
            <a:spAutoFit/>
          </a:bodyPr>
          <a:lstStyle/>
          <a:p>
            <a:pPr algn="l">
              <a:spcAft>
                <a:spcPts val="0"/>
              </a:spcAft>
              <a:defRPr sz="1300" b="1" i="0">
                <a:solidFill>
                  <a:srgbClr val="F2F5FA"/>
                </a:solidFill>
              </a:defRPr>
            </a:pPr>
            <a:r>
              <a:t>특정 슬라이드가 무음으로 지나감</a:t>
            </a:r>
          </a:p>
        </p:txBody>
      </p:sp>
      <p:sp>
        <p:nvSpPr>
          <p:cNvPr id="13" name="TextBox 12"/>
          <p:cNvSpPr txBox="1"/>
          <p:nvPr/>
        </p:nvSpPr>
        <p:spPr>
          <a:xfrm>
            <a:off x="4846320" y="2688336"/>
            <a:ext cx="3474720" cy="292608"/>
          </a:xfrm>
          <a:prstGeom prst="rect">
            <a:avLst/>
          </a:prstGeom>
          <a:noFill/>
        </p:spPr>
        <p:txBody>
          <a:bodyPr wrap="square" anchor="t" lIns="0" rIns="0" tIns="0" bIns="0">
            <a:spAutoFit/>
          </a:bodyPr>
          <a:lstStyle/>
          <a:p>
            <a:pPr algn="l">
              <a:spcAft>
                <a:spcPts val="0"/>
              </a:spcAft>
              <a:defRPr sz="1150" b="0" i="0">
                <a:solidFill>
                  <a:srgbClr val="9AA6BD"/>
                </a:solidFill>
              </a:defRPr>
            </a:pPr>
            <a:r>
              <a:t>노트를 1줄만 작성 — 첫 줄은 제외됩니다</a:t>
            </a:r>
          </a:p>
        </p:txBody>
      </p:sp>
      <p:sp>
        <p:nvSpPr>
          <p:cNvPr id="14" name="TextBox 13"/>
          <p:cNvSpPr txBox="1"/>
          <p:nvPr/>
        </p:nvSpPr>
        <p:spPr>
          <a:xfrm>
            <a:off x="8412480" y="2688336"/>
            <a:ext cx="2834640" cy="292608"/>
          </a:xfrm>
          <a:prstGeom prst="rect">
            <a:avLst/>
          </a:prstGeom>
          <a:noFill/>
        </p:spPr>
        <p:txBody>
          <a:bodyPr wrap="square" anchor="t" lIns="0" rIns="0" tIns="0" bIns="0">
            <a:spAutoFit/>
          </a:bodyPr>
          <a:lstStyle/>
          <a:p>
            <a:pPr algn="l">
              <a:spcAft>
                <a:spcPts val="0"/>
              </a:spcAft>
              <a:defRPr sz="1150" b="0" i="0">
                <a:solidFill>
                  <a:srgbClr val="9AA6BD"/>
                </a:solidFill>
              </a:defRPr>
            </a:pPr>
            <a:r>
              <a:t>노트를 2줄 이상으로 수정</a:t>
            </a:r>
          </a:p>
        </p:txBody>
      </p:sp>
      <p:sp>
        <p:nvSpPr>
          <p:cNvPr id="15" name="Rounded Rectangle 14"/>
          <p:cNvSpPr/>
          <p:nvPr/>
        </p:nvSpPr>
        <p:spPr>
          <a:xfrm>
            <a:off x="822960" y="3200400"/>
            <a:ext cx="10543032" cy="65836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22960" y="3328416"/>
            <a:ext cx="41148" cy="402336"/>
          </a:xfrm>
          <a:prstGeom prst="rect">
            <a:avLst/>
          </a:prstGeom>
          <a:solidFill>
            <a:srgbClr val="F2C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419856"/>
            <a:ext cx="3657600" cy="292608"/>
          </a:xfrm>
          <a:prstGeom prst="rect">
            <a:avLst/>
          </a:prstGeom>
          <a:noFill/>
        </p:spPr>
        <p:txBody>
          <a:bodyPr wrap="square" anchor="t" lIns="0" rIns="0" tIns="0" bIns="0">
            <a:spAutoFit/>
          </a:bodyPr>
          <a:lstStyle/>
          <a:p>
            <a:pPr algn="l">
              <a:spcAft>
                <a:spcPts val="0"/>
              </a:spcAft>
              <a:defRPr sz="1300" b="1" i="0">
                <a:solidFill>
                  <a:srgbClr val="F2F5FA"/>
                </a:solidFill>
              </a:defRPr>
            </a:pPr>
            <a:r>
              <a:t>진행률이 0%에서 멈춤</a:t>
            </a:r>
          </a:p>
        </p:txBody>
      </p:sp>
      <p:sp>
        <p:nvSpPr>
          <p:cNvPr id="18" name="TextBox 17"/>
          <p:cNvSpPr txBox="1"/>
          <p:nvPr/>
        </p:nvSpPr>
        <p:spPr>
          <a:xfrm>
            <a:off x="4846320" y="3438144"/>
            <a:ext cx="3474720" cy="292608"/>
          </a:xfrm>
          <a:prstGeom prst="rect">
            <a:avLst/>
          </a:prstGeom>
          <a:noFill/>
        </p:spPr>
        <p:txBody>
          <a:bodyPr wrap="square" anchor="t" lIns="0" rIns="0" tIns="0" bIns="0">
            <a:spAutoFit/>
          </a:bodyPr>
          <a:lstStyle/>
          <a:p>
            <a:pPr algn="l">
              <a:spcAft>
                <a:spcPts val="0"/>
              </a:spcAft>
              <a:defRPr sz="1150" b="0" i="0">
                <a:solidFill>
                  <a:srgbClr val="9AA6BD"/>
                </a:solidFill>
              </a:defRPr>
            </a:pPr>
            <a:r>
              <a:t>Celery 워커가 실행되지 않음</a:t>
            </a:r>
          </a:p>
        </p:txBody>
      </p:sp>
      <p:sp>
        <p:nvSpPr>
          <p:cNvPr id="19" name="TextBox 18"/>
          <p:cNvSpPr txBox="1"/>
          <p:nvPr/>
        </p:nvSpPr>
        <p:spPr>
          <a:xfrm>
            <a:off x="8412480" y="3438144"/>
            <a:ext cx="2834640" cy="292608"/>
          </a:xfrm>
          <a:prstGeom prst="rect">
            <a:avLst/>
          </a:prstGeom>
          <a:noFill/>
        </p:spPr>
        <p:txBody>
          <a:bodyPr wrap="square" anchor="t" lIns="0" rIns="0" tIns="0" bIns="0">
            <a:spAutoFit/>
          </a:bodyPr>
          <a:lstStyle/>
          <a:p>
            <a:pPr algn="l">
              <a:spcAft>
                <a:spcPts val="0"/>
              </a:spcAft>
              <a:defRPr sz="1150" b="0" i="0">
                <a:solidFill>
                  <a:srgbClr val="9AA6BD"/>
                </a:solidFill>
              </a:defRPr>
            </a:pPr>
            <a:r>
              <a:t>터미널 2에서 워커 실행 확인</a:t>
            </a:r>
          </a:p>
        </p:txBody>
      </p:sp>
      <p:sp>
        <p:nvSpPr>
          <p:cNvPr id="20" name="Rounded Rectangle 19"/>
          <p:cNvSpPr/>
          <p:nvPr/>
        </p:nvSpPr>
        <p:spPr>
          <a:xfrm>
            <a:off x="822960" y="3950208"/>
            <a:ext cx="10543032" cy="6583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22960" y="4078224"/>
            <a:ext cx="41148" cy="402336"/>
          </a:xfrm>
          <a:prstGeom prst="rect">
            <a:avLst/>
          </a:prstGeom>
          <a:solidFill>
            <a:srgbClr val="F2C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4169664"/>
            <a:ext cx="3657600" cy="292608"/>
          </a:xfrm>
          <a:prstGeom prst="rect">
            <a:avLst/>
          </a:prstGeom>
          <a:noFill/>
        </p:spPr>
        <p:txBody>
          <a:bodyPr wrap="square" anchor="t" lIns="0" rIns="0" tIns="0" bIns="0">
            <a:spAutoFit/>
          </a:bodyPr>
          <a:lstStyle/>
          <a:p>
            <a:pPr algn="l">
              <a:spcAft>
                <a:spcPts val="0"/>
              </a:spcAft>
              <a:defRPr sz="1300" b="1" i="0">
                <a:solidFill>
                  <a:srgbClr val="F2F5FA"/>
                </a:solidFill>
              </a:defRPr>
            </a:pPr>
            <a:r>
              <a:t>업로드가 즉시 거부됨</a:t>
            </a:r>
          </a:p>
        </p:txBody>
      </p:sp>
      <p:sp>
        <p:nvSpPr>
          <p:cNvPr id="23" name="TextBox 22"/>
          <p:cNvSpPr txBox="1"/>
          <p:nvPr/>
        </p:nvSpPr>
        <p:spPr>
          <a:xfrm>
            <a:off x="4846320" y="4187952"/>
            <a:ext cx="3474720" cy="292608"/>
          </a:xfrm>
          <a:prstGeom prst="rect">
            <a:avLst/>
          </a:prstGeom>
          <a:noFill/>
        </p:spPr>
        <p:txBody>
          <a:bodyPr wrap="square" anchor="t" lIns="0" rIns="0" tIns="0" bIns="0">
            <a:spAutoFit/>
          </a:bodyPr>
          <a:lstStyle/>
          <a:p>
            <a:pPr algn="l">
              <a:spcAft>
                <a:spcPts val="0"/>
              </a:spcAft>
              <a:defRPr sz="1150" b="0" i="0">
                <a:solidFill>
                  <a:srgbClr val="9AA6BD"/>
                </a:solidFill>
              </a:defRPr>
            </a:pPr>
            <a:r>
              <a:t>100MB 초과 / .pptx가 아닌 파일 / 잘못된 설정값</a:t>
            </a:r>
          </a:p>
        </p:txBody>
      </p:sp>
      <p:sp>
        <p:nvSpPr>
          <p:cNvPr id="24" name="TextBox 23"/>
          <p:cNvSpPr txBox="1"/>
          <p:nvPr/>
        </p:nvSpPr>
        <p:spPr>
          <a:xfrm>
            <a:off x="8412480" y="4187952"/>
            <a:ext cx="2834640" cy="292608"/>
          </a:xfrm>
          <a:prstGeom prst="rect">
            <a:avLst/>
          </a:prstGeom>
          <a:noFill/>
        </p:spPr>
        <p:txBody>
          <a:bodyPr wrap="square" anchor="t" lIns="0" rIns="0" tIns="0" bIns="0">
            <a:spAutoFit/>
          </a:bodyPr>
          <a:lstStyle/>
          <a:p>
            <a:pPr algn="l">
              <a:spcAft>
                <a:spcPts val="0"/>
              </a:spcAft>
              <a:defRPr sz="1150" b="0" i="0">
                <a:solidFill>
                  <a:srgbClr val="9AA6BD"/>
                </a:solidFill>
              </a:defRPr>
            </a:pPr>
            <a:r>
              <a:t>화면에 표시된 사유 확인</a:t>
            </a:r>
          </a:p>
        </p:txBody>
      </p:sp>
      <p:sp>
        <p:nvSpPr>
          <p:cNvPr id="25" name="Rounded Rectangle 24"/>
          <p:cNvSpPr/>
          <p:nvPr/>
        </p:nvSpPr>
        <p:spPr>
          <a:xfrm>
            <a:off x="822960" y="4700016"/>
            <a:ext cx="10543032" cy="658368"/>
          </a:xfrm>
          <a:prstGeom prst="roundRect">
            <a:avLst>
              <a:gd name="adj" fmla="val 4000"/>
            </a:avLst>
          </a:prstGeom>
          <a:solidFill>
            <a:srgbClr val="222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22960" y="4828032"/>
            <a:ext cx="41148" cy="402336"/>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4919472"/>
            <a:ext cx="3657600" cy="292608"/>
          </a:xfrm>
          <a:prstGeom prst="rect">
            <a:avLst/>
          </a:prstGeom>
          <a:noFill/>
        </p:spPr>
        <p:txBody>
          <a:bodyPr wrap="square" anchor="t" lIns="0" rIns="0" tIns="0" bIns="0">
            <a:spAutoFit/>
          </a:bodyPr>
          <a:lstStyle/>
          <a:p>
            <a:pPr algn="l">
              <a:spcAft>
                <a:spcPts val="0"/>
              </a:spcAft>
              <a:defRPr sz="1300" b="1" i="0">
                <a:solidFill>
                  <a:srgbClr val="F2F5FA"/>
                </a:solidFill>
              </a:defRPr>
            </a:pPr>
            <a:r>
              <a:t>한글이 네모(□)로 깨짐</a:t>
            </a:r>
          </a:p>
        </p:txBody>
      </p:sp>
      <p:sp>
        <p:nvSpPr>
          <p:cNvPr id="28" name="TextBox 27"/>
          <p:cNvSpPr txBox="1"/>
          <p:nvPr/>
        </p:nvSpPr>
        <p:spPr>
          <a:xfrm>
            <a:off x="4846320" y="4937760"/>
            <a:ext cx="3474720" cy="292608"/>
          </a:xfrm>
          <a:prstGeom prst="rect">
            <a:avLst/>
          </a:prstGeom>
          <a:noFill/>
        </p:spPr>
        <p:txBody>
          <a:bodyPr wrap="square" anchor="t" lIns="0" rIns="0" tIns="0" bIns="0">
            <a:spAutoFit/>
          </a:bodyPr>
          <a:lstStyle/>
          <a:p>
            <a:pPr algn="l">
              <a:spcAft>
                <a:spcPts val="0"/>
              </a:spcAft>
              <a:defRPr sz="1150" b="0" i="0">
                <a:solidFill>
                  <a:srgbClr val="9AA6BD"/>
                </a:solidFill>
              </a:defRPr>
            </a:pPr>
            <a:r>
              <a:t>Linux 서버에 한글 폰트 미설치</a:t>
            </a:r>
          </a:p>
        </p:txBody>
      </p:sp>
      <p:sp>
        <p:nvSpPr>
          <p:cNvPr id="29" name="TextBox 28"/>
          <p:cNvSpPr txBox="1"/>
          <p:nvPr/>
        </p:nvSpPr>
        <p:spPr>
          <a:xfrm>
            <a:off x="8412480" y="4937760"/>
            <a:ext cx="2834640" cy="292608"/>
          </a:xfrm>
          <a:prstGeom prst="rect">
            <a:avLst/>
          </a:prstGeom>
          <a:noFill/>
        </p:spPr>
        <p:txBody>
          <a:bodyPr wrap="square" anchor="t" lIns="0" rIns="0" tIns="0" bIns="0">
            <a:spAutoFit/>
          </a:bodyPr>
          <a:lstStyle/>
          <a:p>
            <a:pPr algn="l">
              <a:spcAft>
                <a:spcPts val="0"/>
              </a:spcAft>
              <a:defRPr sz="1150" b="0" i="0">
                <a:solidFill>
                  <a:srgbClr val="9AA6BD"/>
                </a:solidFill>
              </a:defRPr>
            </a:pPr>
            <a:r>
              <a:t>서버에 나눔고딕 등 설치 (Mac은 무관)</a:t>
            </a:r>
          </a:p>
        </p:txBody>
      </p:sp>
      <p:sp>
        <p:nvSpPr>
          <p:cNvPr id="30" name="Rounded Rectangle 29"/>
          <p:cNvSpPr/>
          <p:nvPr/>
        </p:nvSpPr>
        <p:spPr>
          <a:xfrm>
            <a:off x="822960" y="5449824"/>
            <a:ext cx="10543032" cy="6583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22960" y="5577840"/>
            <a:ext cx="41148" cy="402336"/>
          </a:xfrm>
          <a:prstGeom prst="rect">
            <a:avLst/>
          </a:prstGeom>
          <a:solidFill>
            <a:srgbClr val="66D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5669280"/>
            <a:ext cx="3657600" cy="292608"/>
          </a:xfrm>
          <a:prstGeom prst="rect">
            <a:avLst/>
          </a:prstGeom>
          <a:noFill/>
        </p:spPr>
        <p:txBody>
          <a:bodyPr wrap="square" anchor="t" lIns="0" rIns="0" tIns="0" bIns="0">
            <a:spAutoFit/>
          </a:bodyPr>
          <a:lstStyle/>
          <a:p>
            <a:pPr algn="l">
              <a:spcAft>
                <a:spcPts val="0"/>
              </a:spcAft>
              <a:defRPr sz="1300" b="1" i="0">
                <a:solidFill>
                  <a:srgbClr val="F2F5FA"/>
                </a:solidFill>
              </a:defRPr>
            </a:pPr>
            <a:r>
              <a:t>대본과 화면이 어긋남</a:t>
            </a:r>
          </a:p>
        </p:txBody>
      </p:sp>
      <p:sp>
        <p:nvSpPr>
          <p:cNvPr id="33" name="TextBox 32"/>
          <p:cNvSpPr txBox="1"/>
          <p:nvPr/>
        </p:nvSpPr>
        <p:spPr>
          <a:xfrm>
            <a:off x="4846320" y="5687568"/>
            <a:ext cx="3474720" cy="292608"/>
          </a:xfrm>
          <a:prstGeom prst="rect">
            <a:avLst/>
          </a:prstGeom>
          <a:noFill/>
        </p:spPr>
        <p:txBody>
          <a:bodyPr wrap="square" anchor="t" lIns="0" rIns="0" tIns="0" bIns="0">
            <a:spAutoFit/>
          </a:bodyPr>
          <a:lstStyle/>
          <a:p>
            <a:pPr algn="l">
              <a:spcAft>
                <a:spcPts val="0"/>
              </a:spcAft>
              <a:defRPr sz="1150" b="0" i="0">
                <a:solidFill>
                  <a:srgbClr val="9AA6BD"/>
                </a:solidFill>
              </a:defRPr>
            </a:pPr>
            <a:r>
              <a:t>숨김 슬라이드 정렬 버그 (구버전)</a:t>
            </a:r>
          </a:p>
        </p:txBody>
      </p:sp>
      <p:sp>
        <p:nvSpPr>
          <p:cNvPr id="34" name="TextBox 33"/>
          <p:cNvSpPr txBox="1"/>
          <p:nvPr/>
        </p:nvSpPr>
        <p:spPr>
          <a:xfrm>
            <a:off x="8412480" y="5687568"/>
            <a:ext cx="2834640" cy="292608"/>
          </a:xfrm>
          <a:prstGeom prst="rect">
            <a:avLst/>
          </a:prstGeom>
          <a:noFill/>
        </p:spPr>
        <p:txBody>
          <a:bodyPr wrap="square" anchor="t" lIns="0" rIns="0" tIns="0" bIns="0">
            <a:spAutoFit/>
          </a:bodyPr>
          <a:lstStyle/>
          <a:p>
            <a:pPr algn="l">
              <a:spcAft>
                <a:spcPts val="0"/>
              </a:spcAft>
              <a:defRPr sz="1150" b="0" i="0">
                <a:solidFill>
                  <a:srgbClr val="9AA6BD"/>
                </a:solidFill>
              </a:defRPr>
            </a:pPr>
            <a:r>
              <a:t>최신 코드로 갱신 — Phase 5.1에서 수정됨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STABILITY</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최근 수정된 치명 버그 (Phase 5.1)</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12</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121408"/>
            <a:ext cx="10543032" cy="169164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2340863"/>
            <a:ext cx="5486400" cy="320040"/>
          </a:xfrm>
          <a:prstGeom prst="rect">
            <a:avLst/>
          </a:prstGeom>
          <a:noFill/>
        </p:spPr>
        <p:txBody>
          <a:bodyPr wrap="square" anchor="t" lIns="0" rIns="0" tIns="0" bIns="0">
            <a:spAutoFit/>
          </a:bodyPr>
          <a:lstStyle/>
          <a:p>
            <a:pPr algn="l">
              <a:spcAft>
                <a:spcPts val="0"/>
              </a:spcAft>
              <a:defRPr sz="1700" b="1" i="0">
                <a:solidFill>
                  <a:srgbClr val="F2F5FA"/>
                </a:solidFill>
              </a:defRPr>
            </a:pPr>
            <a:r>
              <a:t>🔴 무음 슬라이드 병합 파손</a:t>
            </a:r>
          </a:p>
        </p:txBody>
      </p:sp>
      <p:sp>
        <p:nvSpPr>
          <p:cNvPr id="9" name="TextBox 8"/>
          <p:cNvSpPr txBox="1"/>
          <p:nvPr/>
        </p:nvSpPr>
        <p:spPr>
          <a:xfrm>
            <a:off x="1143000" y="2779776"/>
            <a:ext cx="4846320" cy="822960"/>
          </a:xfrm>
          <a:prstGeom prst="rect">
            <a:avLst/>
          </a:prstGeom>
          <a:noFill/>
        </p:spPr>
        <p:txBody>
          <a:bodyPr wrap="square" anchor="t" lIns="0" rIns="0" tIns="0" bIns="0">
            <a:spAutoFit/>
          </a:bodyPr>
          <a:lstStyle/>
          <a:p>
            <a:pPr algn="l">
              <a:spcAft>
                <a:spcPts val="0"/>
              </a:spcAft>
              <a:defRPr sz="1100" b="1" i="0">
                <a:solidFill>
                  <a:srgbClr val="F28B82"/>
                </a:solidFill>
              </a:defRPr>
            </a:pPr>
            <a:r>
              <a:t>BEFORE</a:t>
            </a:r>
          </a:p>
        </p:txBody>
      </p:sp>
      <p:sp>
        <p:nvSpPr>
          <p:cNvPr id="10" name="TextBox 9"/>
          <p:cNvSpPr txBox="1"/>
          <p:nvPr/>
        </p:nvSpPr>
        <p:spPr>
          <a:xfrm>
            <a:off x="1143000" y="3017520"/>
            <a:ext cx="4846320" cy="731520"/>
          </a:xfrm>
          <a:prstGeom prst="rect">
            <a:avLst/>
          </a:prstGeom>
          <a:noFill/>
        </p:spPr>
        <p:txBody>
          <a:bodyPr wrap="square" anchor="t" lIns="0" rIns="0" tIns="0" bIns="0">
            <a:spAutoFit/>
          </a:bodyPr>
          <a:lstStyle/>
          <a:p>
            <a:pPr algn="l">
              <a:spcAft>
                <a:spcPts val="200"/>
              </a:spcAft>
              <a:defRPr sz="1150" b="0" i="0">
                <a:solidFill>
                  <a:srgbClr val="9AA6BD"/>
                </a:solidFill>
              </a:defRPr>
            </a:pPr>
            <a:r>
              <a:t>대본 없는 슬라이드의 오디오 트랙이 누락되어</a:t>
            </a:r>
          </a:p>
          <a:p>
            <a:pPr algn="l">
              <a:spcAft>
                <a:spcPts val="200"/>
              </a:spcAft>
              <a:defRPr sz="1150" b="0" i="0">
                <a:solidFill>
                  <a:srgbClr val="9AA6BD"/>
                </a:solidFill>
              </a:defRPr>
            </a:pPr>
            <a:r>
              <a:t>이후 나레이션이 통째로 앞당겨짐 (영상 64.3s / 오디오 62.9s)</a:t>
            </a:r>
          </a:p>
        </p:txBody>
      </p:sp>
      <p:sp>
        <p:nvSpPr>
          <p:cNvPr id="11" name="TextBox 10"/>
          <p:cNvSpPr txBox="1"/>
          <p:nvPr/>
        </p:nvSpPr>
        <p:spPr>
          <a:xfrm>
            <a:off x="6355080" y="2779776"/>
            <a:ext cx="4846320" cy="822960"/>
          </a:xfrm>
          <a:prstGeom prst="rect">
            <a:avLst/>
          </a:prstGeom>
          <a:noFill/>
        </p:spPr>
        <p:txBody>
          <a:bodyPr wrap="square" anchor="t" lIns="0" rIns="0" tIns="0" bIns="0">
            <a:spAutoFit/>
          </a:bodyPr>
          <a:lstStyle/>
          <a:p>
            <a:pPr algn="l">
              <a:spcAft>
                <a:spcPts val="0"/>
              </a:spcAft>
              <a:defRPr sz="1100" b="1" i="0">
                <a:solidFill>
                  <a:srgbClr val="66D9A0"/>
                </a:solidFill>
              </a:defRPr>
            </a:pPr>
            <a:r>
              <a:t>AFTER</a:t>
            </a:r>
          </a:p>
        </p:txBody>
      </p:sp>
      <p:sp>
        <p:nvSpPr>
          <p:cNvPr id="12" name="TextBox 11"/>
          <p:cNvSpPr txBox="1"/>
          <p:nvPr/>
        </p:nvSpPr>
        <p:spPr>
          <a:xfrm>
            <a:off x="6355080" y="3017520"/>
            <a:ext cx="4846320" cy="731520"/>
          </a:xfrm>
          <a:prstGeom prst="rect">
            <a:avLst/>
          </a:prstGeom>
          <a:noFill/>
        </p:spPr>
        <p:txBody>
          <a:bodyPr wrap="square" anchor="t" lIns="0" rIns="0" tIns="0" bIns="0">
            <a:spAutoFit/>
          </a:bodyPr>
          <a:lstStyle/>
          <a:p>
            <a:pPr algn="l">
              <a:spcAft>
                <a:spcPts val="200"/>
              </a:spcAft>
              <a:defRPr sz="1150" b="0" i="0">
                <a:solidFill>
                  <a:srgbClr val="9AA6BD"/>
                </a:solidFill>
              </a:defRPr>
            </a:pPr>
            <a:r>
              <a:t>무음 트랙을 삽입하고 전 클립의 오디오 규격을 통일</a:t>
            </a:r>
          </a:p>
          <a:p>
            <a:pPr algn="l">
              <a:spcAft>
                <a:spcPts val="200"/>
              </a:spcAft>
              <a:defRPr sz="1150" b="0" i="0">
                <a:solidFill>
                  <a:srgbClr val="9AA6BD"/>
                </a:solidFill>
              </a:defRPr>
            </a:pPr>
            <a:r>
              <a:t>→ 영상 64.2s / 오디오 64.3s 일치</a:t>
            </a:r>
          </a:p>
        </p:txBody>
      </p:sp>
      <p:sp>
        <p:nvSpPr>
          <p:cNvPr id="13" name="Rounded Rectangle 12"/>
          <p:cNvSpPr/>
          <p:nvPr/>
        </p:nvSpPr>
        <p:spPr>
          <a:xfrm>
            <a:off x="822960" y="4023360"/>
            <a:ext cx="10543032" cy="1691640"/>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43000" y="4242816"/>
            <a:ext cx="5486400" cy="320040"/>
          </a:xfrm>
          <a:prstGeom prst="rect">
            <a:avLst/>
          </a:prstGeom>
          <a:noFill/>
        </p:spPr>
        <p:txBody>
          <a:bodyPr wrap="square" anchor="t" lIns="0" rIns="0" tIns="0" bIns="0">
            <a:spAutoFit/>
          </a:bodyPr>
          <a:lstStyle/>
          <a:p>
            <a:pPr algn="l">
              <a:spcAft>
                <a:spcPts val="0"/>
              </a:spcAft>
              <a:defRPr sz="1700" b="1" i="0">
                <a:solidFill>
                  <a:srgbClr val="F2F5FA"/>
                </a:solidFill>
              </a:defRPr>
            </a:pPr>
            <a:r>
              <a:t>🔴 슬라이드-대본 정렬 어긋남</a:t>
            </a:r>
          </a:p>
        </p:txBody>
      </p:sp>
      <p:sp>
        <p:nvSpPr>
          <p:cNvPr id="15" name="TextBox 14"/>
          <p:cNvSpPr txBox="1"/>
          <p:nvPr/>
        </p:nvSpPr>
        <p:spPr>
          <a:xfrm>
            <a:off x="1143000" y="4681728"/>
            <a:ext cx="4846320" cy="822960"/>
          </a:xfrm>
          <a:prstGeom prst="rect">
            <a:avLst/>
          </a:prstGeom>
          <a:noFill/>
        </p:spPr>
        <p:txBody>
          <a:bodyPr wrap="square" anchor="t" lIns="0" rIns="0" tIns="0" bIns="0">
            <a:spAutoFit/>
          </a:bodyPr>
          <a:lstStyle/>
          <a:p>
            <a:pPr algn="l">
              <a:spcAft>
                <a:spcPts val="0"/>
              </a:spcAft>
              <a:defRPr sz="1100" b="1" i="0">
                <a:solidFill>
                  <a:srgbClr val="F28B82"/>
                </a:solidFill>
              </a:defRPr>
            </a:pPr>
            <a:r>
              <a:t>BEFORE</a:t>
            </a:r>
          </a:p>
        </p:txBody>
      </p:sp>
      <p:sp>
        <p:nvSpPr>
          <p:cNvPr id="16" name="TextBox 15"/>
          <p:cNvSpPr txBox="1"/>
          <p:nvPr/>
        </p:nvSpPr>
        <p:spPr>
          <a:xfrm>
            <a:off x="1143000" y="4919472"/>
            <a:ext cx="4846320" cy="731520"/>
          </a:xfrm>
          <a:prstGeom prst="rect">
            <a:avLst/>
          </a:prstGeom>
          <a:noFill/>
        </p:spPr>
        <p:txBody>
          <a:bodyPr wrap="square" anchor="t" lIns="0" rIns="0" tIns="0" bIns="0">
            <a:spAutoFit/>
          </a:bodyPr>
          <a:lstStyle/>
          <a:p>
            <a:pPr algn="l">
              <a:spcAft>
                <a:spcPts val="200"/>
              </a:spcAft>
              <a:defRPr sz="1150" b="0" i="0">
                <a:solidFill>
                  <a:srgbClr val="9AA6BD"/>
                </a:solidFill>
              </a:defRPr>
            </a:pPr>
            <a:r>
              <a:t>숨김 슬라이드가 대본에는 포함되고 이미지에는 빠져</a:t>
            </a:r>
          </a:p>
          <a:p>
            <a:pPr algn="l">
              <a:spcAft>
                <a:spcPts val="200"/>
              </a:spcAft>
              <a:defRPr sz="1150" b="0" i="0">
                <a:solidFill>
                  <a:srgbClr val="9AA6BD"/>
                </a:solidFill>
              </a:defRPr>
            </a:pPr>
            <a:r>
              <a:t>그 이후 전부 다른 슬라이드의 나레이션이 붙음</a:t>
            </a:r>
          </a:p>
        </p:txBody>
      </p:sp>
      <p:sp>
        <p:nvSpPr>
          <p:cNvPr id="17" name="TextBox 16"/>
          <p:cNvSpPr txBox="1"/>
          <p:nvPr/>
        </p:nvSpPr>
        <p:spPr>
          <a:xfrm>
            <a:off x="6355080" y="4681728"/>
            <a:ext cx="4846320" cy="822960"/>
          </a:xfrm>
          <a:prstGeom prst="rect">
            <a:avLst/>
          </a:prstGeom>
          <a:noFill/>
        </p:spPr>
        <p:txBody>
          <a:bodyPr wrap="square" anchor="t" lIns="0" rIns="0" tIns="0" bIns="0">
            <a:spAutoFit/>
          </a:bodyPr>
          <a:lstStyle/>
          <a:p>
            <a:pPr algn="l">
              <a:spcAft>
                <a:spcPts val="0"/>
              </a:spcAft>
              <a:defRPr sz="1100" b="1" i="0">
                <a:solidFill>
                  <a:srgbClr val="66D9A0"/>
                </a:solidFill>
              </a:defRPr>
            </a:pPr>
            <a:r>
              <a:t>AFTER</a:t>
            </a:r>
          </a:p>
        </p:txBody>
      </p:sp>
      <p:sp>
        <p:nvSpPr>
          <p:cNvPr id="18" name="TextBox 17"/>
          <p:cNvSpPr txBox="1"/>
          <p:nvPr/>
        </p:nvSpPr>
        <p:spPr>
          <a:xfrm>
            <a:off x="6355080" y="4919472"/>
            <a:ext cx="4846320" cy="731520"/>
          </a:xfrm>
          <a:prstGeom prst="rect">
            <a:avLst/>
          </a:prstGeom>
          <a:noFill/>
        </p:spPr>
        <p:txBody>
          <a:bodyPr wrap="square" anchor="t" lIns="0" rIns="0" tIns="0" bIns="0">
            <a:spAutoFit/>
          </a:bodyPr>
          <a:lstStyle/>
          <a:p>
            <a:pPr algn="l">
              <a:spcAft>
                <a:spcPts val="200"/>
              </a:spcAft>
              <a:defRPr sz="1150" b="0" i="0">
                <a:solidFill>
                  <a:srgbClr val="9AA6BD"/>
                </a:solidFill>
              </a:defRPr>
            </a:pPr>
            <a:r>
              <a:t>파서에서 숨김 슬라이드를 제외하고</a:t>
            </a:r>
          </a:p>
          <a:p>
            <a:pPr algn="l">
              <a:spcAft>
                <a:spcPts val="200"/>
              </a:spcAft>
              <a:defRPr sz="1150" b="0" i="0">
                <a:solidFill>
                  <a:srgbClr val="9AA6BD"/>
                </a:solidFill>
              </a:defRPr>
            </a:pPr>
            <a:r>
              <a:t>개수 불일치 시 조용히 진행하지 않고 즉시 에러</a:t>
            </a:r>
          </a:p>
        </p:txBody>
      </p:sp>
      <p:sp>
        <p:nvSpPr>
          <p:cNvPr id="19" name="TextBox 18"/>
          <p:cNvSpPr txBox="1"/>
          <p:nvPr/>
        </p:nvSpPr>
        <p:spPr>
          <a:xfrm>
            <a:off x="822960" y="5815584"/>
            <a:ext cx="10515600" cy="320040"/>
          </a:xfrm>
          <a:prstGeom prst="rect">
            <a:avLst/>
          </a:prstGeom>
          <a:noFill/>
        </p:spPr>
        <p:txBody>
          <a:bodyPr wrap="square" anchor="t" lIns="0" rIns="0" tIns="0" bIns="0">
            <a:spAutoFit/>
          </a:bodyPr>
          <a:lstStyle/>
          <a:p>
            <a:pPr algn="l">
              <a:spcAft>
                <a:spcPts val="0"/>
              </a:spcAft>
              <a:defRPr sz="1250" b="0" i="0">
                <a:solidFill>
                  <a:srgbClr val="F2C05C"/>
                </a:solidFill>
              </a:defRPr>
            </a:pPr>
            <a:r>
              <a:t>두 버그 모두 에러 없이 잘못된 결과물을 만들어냈기 때문에 특히 위험했습니다.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TextBox 1"/>
          <p:cNvSpPr txBox="1"/>
          <p:nvPr/>
        </p:nvSpPr>
        <p:spPr>
          <a:xfrm>
            <a:off x="822960" y="566928"/>
            <a:ext cx="10515600" cy="292608"/>
          </a:xfrm>
          <a:prstGeom prst="rect">
            <a:avLst/>
          </a:prstGeom>
          <a:noFill/>
        </p:spPr>
        <p:txBody>
          <a:bodyPr wrap="square" anchor="t" lIns="0" rIns="0" tIns="0" bIns="0">
            <a:spAutoFit/>
          </a:bodyPr>
          <a:lstStyle/>
          <a:p>
            <a:pPr algn="l">
              <a:spcAft>
                <a:spcPts val="0"/>
              </a:spcAft>
              <a:defRPr sz="1300" b="1" i="0">
                <a:solidFill>
                  <a:srgbClr val="7CA9F0"/>
                </a:solidFill>
              </a:defRPr>
            </a:pPr>
            <a:r>
              <a:t>ROADMAP</a:t>
            </a:r>
          </a:p>
        </p:txBody>
      </p:sp>
      <p:sp>
        <p:nvSpPr>
          <p:cNvPr id="3" name="TextBox 2"/>
          <p:cNvSpPr txBox="1"/>
          <p:nvPr/>
        </p:nvSpPr>
        <p:spPr>
          <a:xfrm>
            <a:off x="822960" y="932688"/>
            <a:ext cx="10515600" cy="777240"/>
          </a:xfrm>
          <a:prstGeom prst="rect">
            <a:avLst/>
          </a:prstGeom>
          <a:noFill/>
        </p:spPr>
        <p:txBody>
          <a:bodyPr wrap="square" anchor="t" lIns="0" rIns="0" tIns="0" bIns="0">
            <a:spAutoFit/>
          </a:bodyPr>
          <a:lstStyle/>
          <a:p>
            <a:pPr algn="l">
              <a:spcAft>
                <a:spcPts val="0"/>
              </a:spcAft>
              <a:defRPr sz="3400" b="1" i="0">
                <a:solidFill>
                  <a:srgbClr val="F2F5FA"/>
                </a:solidFill>
              </a:defRPr>
            </a:pPr>
            <a:r>
              <a:t>다음에 할 일</a:t>
            </a:r>
          </a:p>
        </p:txBody>
      </p:sp>
      <p:sp>
        <p:nvSpPr>
          <p:cNvPr id="4" name="Rectangle 3"/>
          <p:cNvSpPr/>
          <p:nvPr/>
        </p:nvSpPr>
        <p:spPr>
          <a:xfrm>
            <a:off x="822960" y="1792224"/>
            <a:ext cx="1005840" cy="41148"/>
          </a:xfrm>
          <a:prstGeom prst="rect">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6144768"/>
            <a:ext cx="914400" cy="274320"/>
          </a:xfrm>
          <a:prstGeom prst="rect">
            <a:avLst/>
          </a:prstGeom>
          <a:noFill/>
        </p:spPr>
        <p:txBody>
          <a:bodyPr wrap="square" anchor="t" lIns="0" rIns="0" tIns="0" bIns="0">
            <a:spAutoFit/>
          </a:bodyPr>
          <a:lstStyle/>
          <a:p>
            <a:pPr algn="r">
              <a:spcAft>
                <a:spcPts val="0"/>
              </a:spcAft>
              <a:defRPr sz="1200" b="0" i="0">
                <a:solidFill>
                  <a:srgbClr val="9AA6BD"/>
                </a:solidFill>
              </a:defRPr>
            </a:pPr>
            <a:r>
              <a:t>13</a:t>
            </a:r>
          </a:p>
        </p:txBody>
      </p:sp>
      <p:sp>
        <p:nvSpPr>
          <p:cNvPr id="6" name="TextBox 5"/>
          <p:cNvSpPr txBox="1"/>
          <p:nvPr/>
        </p:nvSpPr>
        <p:spPr>
          <a:xfrm>
            <a:off x="822960" y="6144768"/>
            <a:ext cx="5486400" cy="274320"/>
          </a:xfrm>
          <a:prstGeom prst="rect">
            <a:avLst/>
          </a:prstGeom>
          <a:noFill/>
        </p:spPr>
        <p:txBody>
          <a:bodyPr wrap="square" anchor="t" lIns="0" rIns="0" tIns="0" bIns="0">
            <a:spAutoFit/>
          </a:bodyPr>
          <a:lstStyle/>
          <a:p>
            <a:pPr algn="l">
              <a:spcAft>
                <a:spcPts val="0"/>
              </a:spcAft>
              <a:defRPr sz="1200" b="0" i="0">
                <a:solidFill>
                  <a:srgbClr val="4C566B"/>
                </a:solidFill>
              </a:defRPr>
            </a:pPr>
            <a:r>
              <a:t>SlideCast 퀵 가이드</a:t>
            </a:r>
          </a:p>
        </p:txBody>
      </p:sp>
      <p:sp>
        <p:nvSpPr>
          <p:cNvPr id="7" name="Rounded Rectangle 6"/>
          <p:cNvSpPr/>
          <p:nvPr/>
        </p:nvSpPr>
        <p:spPr>
          <a:xfrm>
            <a:off x="822960"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22960" y="2441448"/>
            <a:ext cx="45720" cy="1170432"/>
          </a:xfrm>
          <a:prstGeom prst="rect">
            <a:avLst/>
          </a:prstGeom>
          <a:solidFill>
            <a:srgbClr val="66D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2144"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TTS 병렬화</a:t>
            </a:r>
          </a:p>
        </p:txBody>
      </p:sp>
      <p:sp>
        <p:nvSpPr>
          <p:cNvPr id="10" name="TextBox 9"/>
          <p:cNvSpPr txBox="1"/>
          <p:nvPr/>
        </p:nvSpPr>
        <p:spPr>
          <a:xfrm>
            <a:off x="1152144"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슬라이드마다 순차 호출하는 음성 생성을</a:t>
            </a:r>
          </a:p>
          <a:p>
            <a:pPr algn="l">
              <a:spcAft>
                <a:spcPts val="500"/>
              </a:spcAft>
              <a:defRPr sz="1150" b="0" i="0">
                <a:solidFill>
                  <a:srgbClr val="9AA6BD"/>
                </a:solidFill>
              </a:defRPr>
            </a:pPr>
            <a:r>
              <a:t>동시 요청으로 전환 — 장수에 비례해 단축</a:t>
            </a:r>
          </a:p>
        </p:txBody>
      </p:sp>
      <p:sp>
        <p:nvSpPr>
          <p:cNvPr id="11" name="TextBox 10"/>
          <p:cNvSpPr txBox="1"/>
          <p:nvPr/>
        </p:nvSpPr>
        <p:spPr>
          <a:xfrm>
            <a:off x="3456432" y="2532888"/>
            <a:ext cx="457200" cy="228600"/>
          </a:xfrm>
          <a:prstGeom prst="rect">
            <a:avLst/>
          </a:prstGeom>
          <a:noFill/>
        </p:spPr>
        <p:txBody>
          <a:bodyPr wrap="square" anchor="t" lIns="0" rIns="0" tIns="0" bIns="0">
            <a:spAutoFit/>
          </a:bodyPr>
          <a:lstStyle/>
          <a:p>
            <a:pPr algn="r">
              <a:spcAft>
                <a:spcPts val="0"/>
              </a:spcAft>
              <a:defRPr sz="1000" b="1" i="0">
                <a:solidFill>
                  <a:srgbClr val="66D9A0"/>
                </a:solidFill>
              </a:defRPr>
            </a:pPr>
            <a:r>
              <a:t>다음</a:t>
            </a:r>
          </a:p>
        </p:txBody>
      </p:sp>
      <p:sp>
        <p:nvSpPr>
          <p:cNvPr id="12" name="Rounded Rectangle 11"/>
          <p:cNvSpPr/>
          <p:nvPr/>
        </p:nvSpPr>
        <p:spPr>
          <a:xfrm>
            <a:off x="4416552"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16552" y="2441448"/>
            <a:ext cx="45720" cy="1170432"/>
          </a:xfrm>
          <a:prstGeom prst="rect">
            <a:avLst/>
          </a:prstGeom>
          <a:solidFill>
            <a:srgbClr val="66D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45736"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임시 파일 자동 정리</a:t>
            </a:r>
          </a:p>
        </p:txBody>
      </p:sp>
      <p:sp>
        <p:nvSpPr>
          <p:cNvPr id="15" name="TextBox 14"/>
          <p:cNvSpPr txBox="1"/>
          <p:nvPr/>
        </p:nvSpPr>
        <p:spPr>
          <a:xfrm>
            <a:off x="4745736"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완료 후 PNG·MP3·개별 클립을 삭제하고</a:t>
            </a:r>
          </a:p>
          <a:p>
            <a:pPr algn="l">
              <a:spcAft>
                <a:spcPts val="500"/>
              </a:spcAft>
              <a:defRPr sz="1150" b="0" i="0">
                <a:solidFill>
                  <a:srgbClr val="9AA6BD"/>
                </a:solidFill>
              </a:defRPr>
            </a:pPr>
            <a:r>
              <a:t>최종 영상과 자막만 보존</a:t>
            </a:r>
          </a:p>
        </p:txBody>
      </p:sp>
      <p:sp>
        <p:nvSpPr>
          <p:cNvPr id="16" name="TextBox 15"/>
          <p:cNvSpPr txBox="1"/>
          <p:nvPr/>
        </p:nvSpPr>
        <p:spPr>
          <a:xfrm>
            <a:off x="7050024" y="2532888"/>
            <a:ext cx="457200" cy="228600"/>
          </a:xfrm>
          <a:prstGeom prst="rect">
            <a:avLst/>
          </a:prstGeom>
          <a:noFill/>
        </p:spPr>
        <p:txBody>
          <a:bodyPr wrap="square" anchor="t" lIns="0" rIns="0" tIns="0" bIns="0">
            <a:spAutoFit/>
          </a:bodyPr>
          <a:lstStyle/>
          <a:p>
            <a:pPr algn="r">
              <a:spcAft>
                <a:spcPts val="0"/>
              </a:spcAft>
              <a:defRPr sz="1000" b="1" i="0">
                <a:solidFill>
                  <a:srgbClr val="66D9A0"/>
                </a:solidFill>
              </a:defRPr>
            </a:pPr>
            <a:r>
              <a:t>다음</a:t>
            </a:r>
          </a:p>
        </p:txBody>
      </p:sp>
      <p:sp>
        <p:nvSpPr>
          <p:cNvPr id="17" name="Rounded Rectangle 16"/>
          <p:cNvSpPr/>
          <p:nvPr/>
        </p:nvSpPr>
        <p:spPr>
          <a:xfrm>
            <a:off x="8010144" y="224028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10144" y="2441448"/>
            <a:ext cx="45720" cy="1170432"/>
          </a:xfrm>
          <a:prstGeom prst="rect">
            <a:avLst/>
          </a:prstGeom>
          <a:solidFill>
            <a:srgbClr val="F2C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7" y="251460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WebSocket 실연결</a:t>
            </a:r>
          </a:p>
        </p:txBody>
      </p:sp>
      <p:sp>
        <p:nvSpPr>
          <p:cNvPr id="20" name="TextBox 19"/>
          <p:cNvSpPr txBox="1"/>
          <p:nvPr/>
        </p:nvSpPr>
        <p:spPr>
          <a:xfrm>
            <a:off x="8339327" y="291693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현재 진행률은 폴링으로만 동작.</a:t>
            </a:r>
          </a:p>
          <a:p>
            <a:pPr algn="l">
              <a:spcAft>
                <a:spcPts val="500"/>
              </a:spcAft>
              <a:defRPr sz="1150" b="0" i="0">
                <a:solidFill>
                  <a:srgbClr val="9AA6BD"/>
                </a:solidFill>
              </a:defRPr>
            </a:pPr>
            <a:r>
              <a:t>Redis pub/sub 연결 또는 코드 정리</a:t>
            </a:r>
          </a:p>
        </p:txBody>
      </p:sp>
      <p:sp>
        <p:nvSpPr>
          <p:cNvPr id="21" name="TextBox 20"/>
          <p:cNvSpPr txBox="1"/>
          <p:nvPr/>
        </p:nvSpPr>
        <p:spPr>
          <a:xfrm>
            <a:off x="10643616" y="2532888"/>
            <a:ext cx="457200" cy="228600"/>
          </a:xfrm>
          <a:prstGeom prst="rect">
            <a:avLst/>
          </a:prstGeom>
          <a:noFill/>
        </p:spPr>
        <p:txBody>
          <a:bodyPr wrap="square" anchor="t" lIns="0" rIns="0" tIns="0" bIns="0">
            <a:spAutoFit/>
          </a:bodyPr>
          <a:lstStyle/>
          <a:p>
            <a:pPr algn="r">
              <a:spcAft>
                <a:spcPts val="0"/>
              </a:spcAft>
              <a:defRPr sz="1000" b="1" i="0">
                <a:solidFill>
                  <a:srgbClr val="F2C05C"/>
                </a:solidFill>
              </a:defRPr>
            </a:pPr>
            <a:r>
              <a:t>이후</a:t>
            </a:r>
          </a:p>
        </p:txBody>
      </p:sp>
      <p:sp>
        <p:nvSpPr>
          <p:cNvPr id="22" name="Rounded Rectangle 21"/>
          <p:cNvSpPr/>
          <p:nvPr/>
        </p:nvSpPr>
        <p:spPr>
          <a:xfrm>
            <a:off x="822960"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22960" y="4224528"/>
            <a:ext cx="45720" cy="1170432"/>
          </a:xfrm>
          <a:prstGeom prst="rect">
            <a:avLst/>
          </a:prstGeom>
          <a:solidFill>
            <a:srgbClr val="9AA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2144"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회원 · 결제</a:t>
            </a:r>
          </a:p>
        </p:txBody>
      </p:sp>
      <p:sp>
        <p:nvSpPr>
          <p:cNvPr id="25" name="TextBox 24"/>
          <p:cNvSpPr txBox="1"/>
          <p:nvPr/>
        </p:nvSpPr>
        <p:spPr>
          <a:xfrm>
            <a:off x="1152144"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이메일 로그인, 무료/유료 플랜,</a:t>
            </a:r>
          </a:p>
          <a:p>
            <a:pPr algn="l">
              <a:spcAft>
                <a:spcPts val="500"/>
              </a:spcAft>
              <a:defRPr sz="1150" b="0" i="0">
                <a:solidFill>
                  <a:srgbClr val="9AA6BD"/>
                </a:solidFill>
              </a:defRPr>
            </a:pPr>
            <a:r>
              <a:t>결제 연동</a:t>
            </a:r>
          </a:p>
        </p:txBody>
      </p:sp>
      <p:sp>
        <p:nvSpPr>
          <p:cNvPr id="26" name="TextBox 25"/>
          <p:cNvSpPr txBox="1"/>
          <p:nvPr/>
        </p:nvSpPr>
        <p:spPr>
          <a:xfrm>
            <a:off x="3456432" y="4315968"/>
            <a:ext cx="457200" cy="228600"/>
          </a:xfrm>
          <a:prstGeom prst="rect">
            <a:avLst/>
          </a:prstGeom>
          <a:noFill/>
        </p:spPr>
        <p:txBody>
          <a:bodyPr wrap="square" anchor="t" lIns="0" rIns="0" tIns="0" bIns="0">
            <a:spAutoFit/>
          </a:bodyPr>
          <a:lstStyle/>
          <a:p>
            <a:pPr algn="r">
              <a:spcAft>
                <a:spcPts val="0"/>
              </a:spcAft>
              <a:defRPr sz="1000" b="1" i="0">
                <a:solidFill>
                  <a:srgbClr val="9AA6BD"/>
                </a:solidFill>
              </a:defRPr>
            </a:pPr>
            <a:r>
              <a:t>이후</a:t>
            </a:r>
          </a:p>
        </p:txBody>
      </p:sp>
      <p:sp>
        <p:nvSpPr>
          <p:cNvPr id="27" name="Rounded Rectangle 26"/>
          <p:cNvSpPr/>
          <p:nvPr/>
        </p:nvSpPr>
        <p:spPr>
          <a:xfrm>
            <a:off x="4416552"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16552" y="4224528"/>
            <a:ext cx="45720" cy="1170432"/>
          </a:xfrm>
          <a:prstGeom prst="rect">
            <a:avLst/>
          </a:prstGeom>
          <a:solidFill>
            <a:srgbClr val="9AA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45736"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클라우드 배포</a:t>
            </a:r>
          </a:p>
        </p:txBody>
      </p:sp>
      <p:sp>
        <p:nvSpPr>
          <p:cNvPr id="30" name="TextBox 29"/>
          <p:cNvSpPr txBox="1"/>
          <p:nvPr/>
        </p:nvSpPr>
        <p:spPr>
          <a:xfrm>
            <a:off x="4745736"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API 서버와 워커 서버 분리,</a:t>
            </a:r>
          </a:p>
          <a:p>
            <a:pPr algn="l">
              <a:spcAft>
                <a:spcPts val="500"/>
              </a:spcAft>
              <a:defRPr sz="1150" b="0" i="0">
                <a:solidFill>
                  <a:srgbClr val="9AA6BD"/>
                </a:solidFill>
              </a:defRPr>
            </a:pPr>
            <a:r>
              <a:t>S3 연동, 한글 폰트 자동 설치</a:t>
            </a:r>
          </a:p>
        </p:txBody>
      </p:sp>
      <p:sp>
        <p:nvSpPr>
          <p:cNvPr id="31" name="TextBox 30"/>
          <p:cNvSpPr txBox="1"/>
          <p:nvPr/>
        </p:nvSpPr>
        <p:spPr>
          <a:xfrm>
            <a:off x="7050024" y="4315968"/>
            <a:ext cx="457200" cy="228600"/>
          </a:xfrm>
          <a:prstGeom prst="rect">
            <a:avLst/>
          </a:prstGeom>
          <a:noFill/>
        </p:spPr>
        <p:txBody>
          <a:bodyPr wrap="square" anchor="t" lIns="0" rIns="0" tIns="0" bIns="0">
            <a:spAutoFit/>
          </a:bodyPr>
          <a:lstStyle/>
          <a:p>
            <a:pPr algn="r">
              <a:spcAft>
                <a:spcPts val="0"/>
              </a:spcAft>
              <a:defRPr sz="1000" b="1" i="0">
                <a:solidFill>
                  <a:srgbClr val="9AA6BD"/>
                </a:solidFill>
              </a:defRPr>
            </a:pPr>
            <a:r>
              <a:t>이후</a:t>
            </a:r>
          </a:p>
        </p:txBody>
      </p:sp>
      <p:sp>
        <p:nvSpPr>
          <p:cNvPr id="32" name="Rounded Rectangle 31"/>
          <p:cNvSpPr/>
          <p:nvPr/>
        </p:nvSpPr>
        <p:spPr>
          <a:xfrm>
            <a:off x="8010144" y="4023360"/>
            <a:ext cx="3319272" cy="1572768"/>
          </a:xfrm>
          <a:prstGeom prst="roundRect">
            <a:avLst>
              <a:gd name="adj" fmla="val 4000"/>
            </a:avLst>
          </a:prstGeom>
          <a:solidFill>
            <a:srgbClr val="1B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010144" y="4224528"/>
            <a:ext cx="45720" cy="1170432"/>
          </a:xfrm>
          <a:prstGeom prst="rect">
            <a:avLst/>
          </a:prstGeom>
          <a:solidFill>
            <a:srgbClr val="9AA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9327" y="4297680"/>
            <a:ext cx="2715768" cy="365760"/>
          </a:xfrm>
          <a:prstGeom prst="rect">
            <a:avLst/>
          </a:prstGeom>
          <a:noFill/>
        </p:spPr>
        <p:txBody>
          <a:bodyPr wrap="square" anchor="t" lIns="0" rIns="0" tIns="0" bIns="0">
            <a:spAutoFit/>
          </a:bodyPr>
          <a:lstStyle/>
          <a:p>
            <a:pPr algn="l">
              <a:spcAft>
                <a:spcPts val="0"/>
              </a:spcAft>
              <a:defRPr sz="1500" b="1" i="0">
                <a:solidFill>
                  <a:srgbClr val="F2F5FA"/>
                </a:solidFill>
              </a:defRPr>
            </a:pPr>
            <a:r>
              <a:t>YouTube 연동</a:t>
            </a:r>
          </a:p>
        </p:txBody>
      </p:sp>
      <p:sp>
        <p:nvSpPr>
          <p:cNvPr id="35" name="TextBox 34"/>
          <p:cNvSpPr txBox="1"/>
          <p:nvPr/>
        </p:nvSpPr>
        <p:spPr>
          <a:xfrm>
            <a:off x="8339327" y="4700016"/>
            <a:ext cx="2715768" cy="749808"/>
          </a:xfrm>
          <a:prstGeom prst="rect">
            <a:avLst/>
          </a:prstGeom>
          <a:noFill/>
        </p:spPr>
        <p:txBody>
          <a:bodyPr wrap="square" anchor="t" lIns="0" rIns="0" tIns="0" bIns="0">
            <a:spAutoFit/>
          </a:bodyPr>
          <a:lstStyle/>
          <a:p>
            <a:pPr algn="l">
              <a:spcAft>
                <a:spcPts val="500"/>
              </a:spcAft>
              <a:defRPr sz="1150" b="0" i="0">
                <a:solidFill>
                  <a:srgbClr val="9AA6BD"/>
                </a:solidFill>
              </a:defRPr>
            </a:pPr>
            <a:r>
              <a:t>다국어 자막, 챕터, 썸네일,</a:t>
            </a:r>
          </a:p>
          <a:p>
            <a:pPr algn="l">
              <a:spcAft>
                <a:spcPts val="500"/>
              </a:spcAft>
              <a:defRPr sz="1150" b="0" i="0">
                <a:solidFill>
                  <a:srgbClr val="9AA6BD"/>
                </a:solidFill>
              </a:defRPr>
            </a:pPr>
            <a:r>
              <a:t>API 자동 업로드</a:t>
            </a:r>
          </a:p>
        </p:txBody>
      </p:sp>
      <p:sp>
        <p:nvSpPr>
          <p:cNvPr id="36" name="TextBox 35"/>
          <p:cNvSpPr txBox="1"/>
          <p:nvPr/>
        </p:nvSpPr>
        <p:spPr>
          <a:xfrm>
            <a:off x="10643616" y="4315968"/>
            <a:ext cx="457200" cy="228600"/>
          </a:xfrm>
          <a:prstGeom prst="rect">
            <a:avLst/>
          </a:prstGeom>
          <a:noFill/>
        </p:spPr>
        <p:txBody>
          <a:bodyPr wrap="square" anchor="t" lIns="0" rIns="0" tIns="0" bIns="0">
            <a:spAutoFit/>
          </a:bodyPr>
          <a:lstStyle/>
          <a:p>
            <a:pPr algn="r">
              <a:spcAft>
                <a:spcPts val="0"/>
              </a:spcAft>
              <a:defRPr sz="1000" b="1" i="0">
                <a:solidFill>
                  <a:srgbClr val="9AA6BD"/>
                </a:solidFill>
              </a:defRPr>
            </a:pPr>
            <a:r>
              <a:t>이후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41E"/>
        </a:solidFill>
        <a:effectLst/>
      </p:bgPr>
    </p:bg>
    <p:spTree>
      <p:nvGrpSpPr>
        <p:cNvPr id="1" name=""/>
        <p:cNvGrpSpPr/>
        <p:nvPr/>
      </p:nvGrpSpPr>
      <p:grpSpPr/>
      <p:sp>
        <p:nvSpPr>
          <p:cNvPr id="2" name="Rounded Rectangle 1"/>
          <p:cNvSpPr/>
          <p:nvPr/>
        </p:nvSpPr>
        <p:spPr>
          <a:xfrm>
            <a:off x="822960" y="1737360"/>
            <a:ext cx="54864" cy="3291840"/>
          </a:xfrm>
          <a:prstGeom prst="roundRect">
            <a:avLst>
              <a:gd name="adj" fmla="val 4000"/>
            </a:avLst>
          </a:prstGeom>
          <a:solidFill>
            <a:srgbClr val="7CA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234440" y="1737360"/>
            <a:ext cx="10058400" cy="411480"/>
          </a:xfrm>
          <a:prstGeom prst="rect">
            <a:avLst/>
          </a:prstGeom>
          <a:noFill/>
        </p:spPr>
        <p:txBody>
          <a:bodyPr wrap="square" anchor="t" lIns="0" rIns="0" tIns="0" bIns="0">
            <a:spAutoFit/>
          </a:bodyPr>
          <a:lstStyle/>
          <a:p>
            <a:pPr algn="l">
              <a:spcAft>
                <a:spcPts val="0"/>
              </a:spcAft>
              <a:defRPr sz="1500" b="1" i="0">
                <a:solidFill>
                  <a:srgbClr val="7CA9F0"/>
                </a:solidFill>
              </a:defRPr>
            </a:pPr>
            <a:r>
              <a:t>SUMMARY</a:t>
            </a:r>
          </a:p>
        </p:txBody>
      </p:sp>
      <p:sp>
        <p:nvSpPr>
          <p:cNvPr id="4" name="TextBox 3"/>
          <p:cNvSpPr txBox="1"/>
          <p:nvPr/>
        </p:nvSpPr>
        <p:spPr>
          <a:xfrm>
            <a:off x="1234440" y="2240280"/>
            <a:ext cx="10058400" cy="1097280"/>
          </a:xfrm>
          <a:prstGeom prst="rect">
            <a:avLst/>
          </a:prstGeom>
          <a:noFill/>
        </p:spPr>
        <p:txBody>
          <a:bodyPr wrap="square" anchor="t" lIns="0" rIns="0" tIns="0" bIns="0">
            <a:spAutoFit/>
          </a:bodyPr>
          <a:lstStyle/>
          <a:p>
            <a:pPr algn="l">
              <a:spcAft>
                <a:spcPts val="800"/>
              </a:spcAft>
              <a:defRPr sz="4000" b="1" i="0">
                <a:solidFill>
                  <a:srgbClr val="F2F5FA"/>
                </a:solidFill>
              </a:defRPr>
            </a:pPr>
            <a:r>
              <a:t>노트 2번째 줄부터가 대본,</a:t>
            </a:r>
          </a:p>
          <a:p>
            <a:pPr algn="l">
              <a:spcAft>
                <a:spcPts val="800"/>
              </a:spcAft>
              <a:defRPr sz="4000" b="1" i="0">
                <a:solidFill>
                  <a:srgbClr val="F2F5FA"/>
                </a:solidFill>
              </a:defRPr>
            </a:pPr>
            <a:r>
              <a:t>나머지는 전부 자동입니다.</a:t>
            </a:r>
          </a:p>
        </p:txBody>
      </p:sp>
      <p:sp>
        <p:nvSpPr>
          <p:cNvPr id="5" name="TextBox 4"/>
          <p:cNvSpPr txBox="1"/>
          <p:nvPr/>
        </p:nvSpPr>
        <p:spPr>
          <a:xfrm>
            <a:off x="1234440" y="3977639"/>
            <a:ext cx="1097280" cy="274320"/>
          </a:xfrm>
          <a:prstGeom prst="rect">
            <a:avLst/>
          </a:prstGeom>
          <a:noFill/>
        </p:spPr>
        <p:txBody>
          <a:bodyPr wrap="square" anchor="t" lIns="0" rIns="0" tIns="0" bIns="0">
            <a:spAutoFit/>
          </a:bodyPr>
          <a:lstStyle/>
          <a:p>
            <a:pPr algn="l">
              <a:spcAft>
                <a:spcPts val="0"/>
              </a:spcAft>
              <a:defRPr sz="1300" b="1" i="0">
                <a:solidFill>
                  <a:srgbClr val="7CA9F0"/>
                </a:solidFill>
              </a:defRPr>
            </a:pPr>
            <a:r>
              <a:t>작성</a:t>
            </a:r>
          </a:p>
        </p:txBody>
      </p:sp>
      <p:sp>
        <p:nvSpPr>
          <p:cNvPr id="6" name="TextBox 5"/>
          <p:cNvSpPr txBox="1"/>
          <p:nvPr/>
        </p:nvSpPr>
        <p:spPr>
          <a:xfrm>
            <a:off x="2377440" y="3977639"/>
            <a:ext cx="8686800" cy="274320"/>
          </a:xfrm>
          <a:prstGeom prst="rect">
            <a:avLst/>
          </a:prstGeom>
          <a:noFill/>
        </p:spPr>
        <p:txBody>
          <a:bodyPr wrap="square" anchor="t" lIns="0" rIns="0" tIns="0" bIns="0">
            <a:spAutoFit/>
          </a:bodyPr>
          <a:lstStyle/>
          <a:p>
            <a:pPr algn="l">
              <a:spcAft>
                <a:spcPts val="0"/>
              </a:spcAft>
              <a:defRPr sz="1400" b="0" i="0">
                <a:solidFill>
                  <a:srgbClr val="9AA6BD"/>
                </a:solidFill>
              </a:defRPr>
            </a:pPr>
            <a:r>
              <a:t>슬라이드 노트에 대본 (첫 줄 제외)</a:t>
            </a:r>
          </a:p>
        </p:txBody>
      </p:sp>
      <p:sp>
        <p:nvSpPr>
          <p:cNvPr id="7" name="TextBox 6"/>
          <p:cNvSpPr txBox="1"/>
          <p:nvPr/>
        </p:nvSpPr>
        <p:spPr>
          <a:xfrm>
            <a:off x="1234440" y="4480559"/>
            <a:ext cx="1097280" cy="274320"/>
          </a:xfrm>
          <a:prstGeom prst="rect">
            <a:avLst/>
          </a:prstGeom>
          <a:noFill/>
        </p:spPr>
        <p:txBody>
          <a:bodyPr wrap="square" anchor="t" lIns="0" rIns="0" tIns="0" bIns="0">
            <a:spAutoFit/>
          </a:bodyPr>
          <a:lstStyle/>
          <a:p>
            <a:pPr algn="l">
              <a:spcAft>
                <a:spcPts val="0"/>
              </a:spcAft>
              <a:defRPr sz="1300" b="1" i="0">
                <a:solidFill>
                  <a:srgbClr val="7CA9F0"/>
                </a:solidFill>
              </a:defRPr>
            </a:pPr>
            <a:r>
              <a:t>실행</a:t>
            </a:r>
          </a:p>
        </p:txBody>
      </p:sp>
      <p:sp>
        <p:nvSpPr>
          <p:cNvPr id="8" name="TextBox 7"/>
          <p:cNvSpPr txBox="1"/>
          <p:nvPr/>
        </p:nvSpPr>
        <p:spPr>
          <a:xfrm>
            <a:off x="2377440" y="4480559"/>
            <a:ext cx="8686800" cy="274320"/>
          </a:xfrm>
          <a:prstGeom prst="rect">
            <a:avLst/>
          </a:prstGeom>
          <a:noFill/>
        </p:spPr>
        <p:txBody>
          <a:bodyPr wrap="square" anchor="t" lIns="0" rIns="0" tIns="0" bIns="0">
            <a:spAutoFit/>
          </a:bodyPr>
          <a:lstStyle/>
          <a:p>
            <a:pPr algn="l">
              <a:spcAft>
                <a:spcPts val="0"/>
              </a:spcAft>
              <a:defRPr sz="1400" b="0" i="0">
                <a:solidFill>
                  <a:srgbClr val="9AA6BD"/>
                </a:solidFill>
              </a:defRPr>
            </a:pPr>
            <a:r>
              <a:t>redis-server · celery worker · uvicorn</a:t>
            </a:r>
          </a:p>
        </p:txBody>
      </p:sp>
      <p:sp>
        <p:nvSpPr>
          <p:cNvPr id="9" name="TextBox 8"/>
          <p:cNvSpPr txBox="1"/>
          <p:nvPr/>
        </p:nvSpPr>
        <p:spPr>
          <a:xfrm>
            <a:off x="1234440" y="4983479"/>
            <a:ext cx="1097280" cy="274320"/>
          </a:xfrm>
          <a:prstGeom prst="rect">
            <a:avLst/>
          </a:prstGeom>
          <a:noFill/>
        </p:spPr>
        <p:txBody>
          <a:bodyPr wrap="square" anchor="t" lIns="0" rIns="0" tIns="0" bIns="0">
            <a:spAutoFit/>
          </a:bodyPr>
          <a:lstStyle/>
          <a:p>
            <a:pPr algn="l">
              <a:spcAft>
                <a:spcPts val="0"/>
              </a:spcAft>
              <a:defRPr sz="1300" b="1" i="0">
                <a:solidFill>
                  <a:srgbClr val="7CA9F0"/>
                </a:solidFill>
              </a:defRPr>
            </a:pPr>
            <a:r>
              <a:t>결과</a:t>
            </a:r>
          </a:p>
        </p:txBody>
      </p:sp>
      <p:sp>
        <p:nvSpPr>
          <p:cNvPr id="10" name="TextBox 9"/>
          <p:cNvSpPr txBox="1"/>
          <p:nvPr/>
        </p:nvSpPr>
        <p:spPr>
          <a:xfrm>
            <a:off x="2377440" y="4983479"/>
            <a:ext cx="8686800" cy="274320"/>
          </a:xfrm>
          <a:prstGeom prst="rect">
            <a:avLst/>
          </a:prstGeom>
          <a:noFill/>
        </p:spPr>
        <p:txBody>
          <a:bodyPr wrap="square" anchor="t" lIns="0" rIns="0" tIns="0" bIns="0">
            <a:spAutoFit/>
          </a:bodyPr>
          <a:lstStyle/>
          <a:p>
            <a:pPr algn="l">
              <a:spcAft>
                <a:spcPts val="0"/>
              </a:spcAft>
              <a:defRPr sz="1400" b="0" i="0">
                <a:solidFill>
                  <a:srgbClr val="9AA6BD"/>
                </a:solidFill>
              </a:defRPr>
            </a:pPr>
            <a:r>
              <a:t>1920×1080 MP4 + YouTube용 SRT</a:t>
            </a:r>
          </a:p>
        </p:txBody>
      </p:sp>
      <p:sp>
        <p:nvSpPr>
          <p:cNvPr id="11" name="TextBox 10"/>
          <p:cNvSpPr txBox="1"/>
          <p:nvPr/>
        </p:nvSpPr>
        <p:spPr>
          <a:xfrm>
            <a:off x="1234440" y="5806440"/>
            <a:ext cx="10058400" cy="365760"/>
          </a:xfrm>
          <a:prstGeom prst="rect">
            <a:avLst/>
          </a:prstGeom>
          <a:noFill/>
        </p:spPr>
        <p:txBody>
          <a:bodyPr wrap="square" anchor="t" lIns="0" rIns="0" tIns="0" bIns="0">
            <a:spAutoFit/>
          </a:bodyPr>
          <a:lstStyle/>
          <a:p>
            <a:pPr algn="l">
              <a:spcAft>
                <a:spcPts val="0"/>
              </a:spcAft>
              <a:defRPr sz="1400" b="0" i="1">
                <a:solidFill>
                  <a:srgbClr val="5E6A82"/>
                </a:solidFill>
              </a:defRPr>
            </a:pPr>
            <a:r>
              <a:t>이 영상은 이 가이드 PPTX 파일 하나로 생성되었습니다.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